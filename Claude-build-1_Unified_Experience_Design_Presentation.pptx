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457200" cy="2743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06400"/>
                </a:solidFill>
                <a:latin typeface="Calibri"/>
              </a:defRPr>
            </a:pPr>
            <a:r>
              <a:t>Designing for a Unified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3C3C3C"/>
                </a:solidFill>
                <a:latin typeface="Calibri"/>
              </a:defRPr>
            </a:pPr>
            <a:r>
              <a:t>A New Perspective and a Case Study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017520"/>
            <a:ext cx="365760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87878"/>
                </a:solidFill>
                <a:latin typeface="Calibri"/>
              </a:defRPr>
            </a:pPr>
            <a:r>
              <a:t>Paper by: Wei Xu &amp; Dov Furie — Intel Corporation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40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C3C3C"/>
                </a:solidFill>
                <a:latin typeface="Calibri"/>
              </a:defRPr>
            </a:pPr>
            <a:r>
              <a:t>Course: CSE [Course No.] — [Course Name]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06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C3C3C"/>
                </a:solidFill>
                <a:latin typeface="Calibri"/>
              </a:defRPr>
            </a:pPr>
            <a:r>
              <a:t>Course Teacher: [Teacher Name]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840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400"/>
                </a:solidFill>
                <a:latin typeface="Calibri"/>
              </a:defRPr>
            </a:pPr>
            <a:r>
              <a:t>Presented by: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1148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C3C3C"/>
                </a:solidFill>
                <a:latin typeface="Calibri"/>
              </a:defRPr>
            </a:pPr>
            <a:r>
              <a:t>1. [Student Name 1] — Roll: [XXXXXXX]</a:t>
            </a:r>
          </a:p>
          <a:p>
            <a:pPr>
              <a:spcAft>
                <a:spcPts val="600"/>
              </a:spcAft>
              <a:defRPr sz="1300">
                <a:solidFill>
                  <a:srgbClr val="3C3C3C"/>
                </a:solidFill>
                <a:latin typeface="Calibri"/>
              </a:defRPr>
            </a:pPr>
            <a:r>
              <a:t>2. [Student Name 2] — Roll: [XXXXXXX]</a:t>
            </a:r>
          </a:p>
          <a:p>
            <a:pPr>
              <a:spcAft>
                <a:spcPts val="600"/>
              </a:spcAft>
              <a:defRPr sz="1300">
                <a:solidFill>
                  <a:srgbClr val="3C3C3C"/>
                </a:solidFill>
                <a:latin typeface="Calibri"/>
              </a:defRPr>
            </a:pPr>
            <a:r>
              <a:t>3. [Student Name 3] — Roll: [XXXXXXX]</a:t>
            </a:r>
          </a:p>
          <a:p>
            <a:pPr>
              <a:spcAft>
                <a:spcPts val="600"/>
              </a:spcAft>
              <a:defRPr sz="1300">
                <a:solidFill>
                  <a:srgbClr val="3C3C3C"/>
                </a:solidFill>
                <a:latin typeface="Calibri"/>
              </a:defRPr>
            </a:pPr>
            <a:r>
              <a:t>4. [Student Name 4] — Roll: [XXXXXXX]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0" y="914400"/>
            <a:ext cx="1188720" cy="118872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00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6400"/>
                </a:solidFill>
              </a:defRPr>
            </a:pPr>
            <a:r>
              <a:t>KUET</a:t>
            </a:r>
            <a:br/>
            <a:r>
              <a:t>Logo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035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Khulna University of Engineering &amp; Technology    |    Department of Computer Science &amp; Engineering    |    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65379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2/12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6400"/>
                </a:solidFill>
                <a:latin typeface="Calibri"/>
              </a:defRPr>
            </a:pPr>
            <a:r>
              <a:t>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05840"/>
            <a:ext cx="228600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1371600"/>
            <a:ext cx="502920" cy="502920"/>
          </a:xfrm>
          <a:prstGeom prst="ellipse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371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645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87878"/>
                </a:solidFill>
                <a:latin typeface="Calibri"/>
              </a:defRPr>
            </a:pPr>
            <a:r>
              <a:t>Why Enterprise UX is Broken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2057400"/>
            <a:ext cx="502920" cy="502920"/>
          </a:xfrm>
          <a:prstGeom prst="ellipse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057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Calibri"/>
              </a:defRPr>
            </a:pPr>
            <a:r>
              <a:t>Previous Efforts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331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87878"/>
                </a:solidFill>
                <a:latin typeface="Calibri"/>
              </a:defRPr>
            </a:pPr>
            <a:r>
              <a:t>What Others Tried (&amp; Why It Wasn't Enough)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2743200"/>
            <a:ext cx="502920" cy="502920"/>
          </a:xfrm>
          <a:prstGeom prst="ellipse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27432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Calibri"/>
              </a:defRPr>
            </a:pPr>
            <a:r>
              <a:t>Unified Experience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017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87878"/>
                </a:solidFill>
                <a:latin typeface="Calibri"/>
              </a:defRPr>
            </a:pPr>
            <a:r>
              <a:t>The 5-Attribute Framework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3429000"/>
            <a:ext cx="502920" cy="502920"/>
          </a:xfrm>
          <a:prstGeom prst="ellipse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3429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Calibri"/>
              </a:defRPr>
            </a:pPr>
            <a:r>
              <a:t>Implementation Framework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3703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87878"/>
                </a:solidFill>
                <a:latin typeface="Calibri"/>
              </a:defRPr>
            </a:pPr>
            <a:r>
              <a:t>2 Driving Vectors</a:t>
            </a:r>
          </a:p>
        </p:txBody>
      </p:sp>
      <p:sp>
        <p:nvSpPr>
          <p:cNvPr id="19" name="Oval 18"/>
          <p:cNvSpPr/>
          <p:nvPr/>
        </p:nvSpPr>
        <p:spPr>
          <a:xfrm>
            <a:off x="914400" y="4114800"/>
            <a:ext cx="502920" cy="502920"/>
          </a:xfrm>
          <a:prstGeom prst="ellipse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114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Calibri"/>
              </a:defRPr>
            </a:pPr>
            <a:r>
              <a:t>Case Study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4389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87878"/>
                </a:solidFill>
                <a:latin typeface="Calibri"/>
              </a:defRPr>
            </a:pPr>
            <a:r>
              <a:t>Meet Paul — The Frustrated Buyer</a:t>
            </a:r>
          </a:p>
        </p:txBody>
      </p:sp>
      <p:sp>
        <p:nvSpPr>
          <p:cNvPr id="22" name="Oval 21"/>
          <p:cNvSpPr/>
          <p:nvPr/>
        </p:nvSpPr>
        <p:spPr>
          <a:xfrm>
            <a:off x="914400" y="4800600"/>
            <a:ext cx="502920" cy="502920"/>
          </a:xfrm>
          <a:prstGeom prst="ellipse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4800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Calibri"/>
              </a:defRPr>
            </a:pPr>
            <a:r>
              <a:t>Results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5074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87878"/>
                </a:solidFill>
                <a:latin typeface="Calibri"/>
              </a:defRPr>
            </a:pPr>
            <a:r>
              <a:t>Hard Numbers That Prove It Works</a:t>
            </a:r>
          </a:p>
        </p:txBody>
      </p:sp>
      <p:sp>
        <p:nvSpPr>
          <p:cNvPr id="25" name="Oval 24"/>
          <p:cNvSpPr/>
          <p:nvPr/>
        </p:nvSpPr>
        <p:spPr>
          <a:xfrm>
            <a:off x="914400" y="5486400"/>
            <a:ext cx="502920" cy="502920"/>
          </a:xfrm>
          <a:prstGeom prst="ellipse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20" y="5486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Calibri"/>
              </a:defRPr>
            </a:pPr>
            <a:r>
              <a:t>Takeaways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5760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87878"/>
                </a:solidFill>
                <a:latin typeface="Calibri"/>
              </a:defRPr>
            </a:pPr>
            <a:r>
              <a:t>Key Lessons &amp; Exam Points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0" y="1371600"/>
            <a:ext cx="3931920" cy="4846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0" y="164592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6400"/>
                </a:solidFill>
                <a:latin typeface="Calibri"/>
              </a:defRPr>
            </a:pPr>
            <a:r>
              <a:t>5-Minute Presentation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2377440"/>
            <a:ext cx="3474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C3C3C"/>
                </a:solidFill>
                <a:latin typeface="Calibri"/>
              </a:defRPr>
            </a:pPr>
            <a:r>
              <a:t>This paper proposes a Unified Experience framework for enterprise software, backed by a real Intel case study that dramatically improved worker productivity.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0" y="50292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87878"/>
                </a:solidFill>
                <a:latin typeface="Calibri"/>
              </a:defRPr>
            </a:pPr>
            <a:r>
              <a:t>Paper: Xu &amp; Furie, Intel Corp.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65379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3/12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6400"/>
                </a:solidFill>
                <a:latin typeface="Calibri"/>
              </a:defRPr>
            </a:pPr>
            <a:r>
              <a:t>The Problem — Broken Enterprise UX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05840"/>
            <a:ext cx="365760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10698480" cy="640080"/>
          </a:xfrm>
          <a:prstGeom prst="roundRect">
            <a:avLst/>
          </a:prstGeom>
          <a:solidFill>
            <a:srgbClr val="FFF8E6"/>
          </a:solidFill>
          <a:ln w="1905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C3C3C"/>
                </a:solidFill>
                <a:latin typeface="Calibri"/>
              </a:defRPr>
            </a:pPr>
            <a:r>
              <a:t>💡 "Imagine using 6+ different apps just to complete ONE task at work... every single day."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Calibri"/>
              </a:defRPr>
            </a:pPr>
            <a:r>
              <a:t>The Reality in Large Companies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C3C3C"/>
                </a:solidFill>
                <a:latin typeface="Calibri"/>
              </a:defRPr>
            </a:pPr>
            <a:r>
              <a:t>▶ Hundreds of apps: CRM, SCM, ERP, HR, BI...</a:t>
            </a:r>
          </a:p>
          <a:p>
            <a:pPr>
              <a:spcAft>
                <a:spcPts val="600"/>
              </a:spcAft>
              <a:defRPr sz="1500">
                <a:solidFill>
                  <a:srgbClr val="3C3C3C"/>
                </a:solidFill>
                <a:latin typeface="Calibri"/>
              </a:defRPr>
            </a:pPr>
            <a:r>
              <a:t>▶ Hybrid environment: vendor + home-grown apps</a:t>
            </a:r>
          </a:p>
          <a:p>
            <a:pPr>
              <a:spcAft>
                <a:spcPts val="600"/>
              </a:spcAft>
              <a:defRPr sz="1500">
                <a:solidFill>
                  <a:srgbClr val="3C3C3C"/>
                </a:solidFill>
                <a:latin typeface="Calibri"/>
              </a:defRPr>
            </a:pPr>
            <a:r>
              <a:t>▶ Result of mergers, acquisitions over years</a:t>
            </a:r>
          </a:p>
          <a:p>
            <a:pPr>
              <a:spcAft>
                <a:spcPts val="600"/>
              </a:spcAft>
              <a:defRPr sz="1500">
                <a:solidFill>
                  <a:srgbClr val="3C3C3C"/>
                </a:solidFill>
                <a:latin typeface="Calibri"/>
              </a:defRPr>
            </a:pPr>
            <a:r>
              <a:t>▶ Siloed solutions — apps don't talk to each other</a:t>
            </a:r>
          </a:p>
          <a:p>
            <a:pPr>
              <a:spcAft>
                <a:spcPts val="600"/>
              </a:spcAft>
              <a:defRPr sz="1500">
                <a:solidFill>
                  <a:srgbClr val="3C3C3C"/>
                </a:solidFill>
                <a:latin typeface="Calibri"/>
              </a:defRPr>
            </a:pPr>
            <a:r>
              <a:t>▶ Inconsistent UIs, fragmented workflows</a:t>
            </a:r>
          </a:p>
          <a:p>
            <a:pPr>
              <a:spcAft>
                <a:spcPts val="600"/>
              </a:spcAft>
              <a:defRPr sz="1500">
                <a:solidFill>
                  <a:srgbClr val="3C3C3C"/>
                </a:solidFill>
                <a:latin typeface="Calibri"/>
              </a:defRPr>
            </a:pPr>
            <a:r>
              <a:t>▶ Poor data integration across systems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103120"/>
            <a:ext cx="5029200" cy="4114800"/>
          </a:xfrm>
          <a:prstGeom prst="roundRect">
            <a:avLst/>
          </a:prstGeom>
          <a:solidFill>
            <a:srgbClr val="FFF0F0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2286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  <a:latin typeface="Calibri"/>
              </a:defRPr>
            </a:pPr>
            <a:r>
              <a:t>⚠ Impact on Users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83464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C3C3C"/>
                </a:solidFill>
                <a:latin typeface="Calibri"/>
              </a:defRPr>
            </a:pPr>
            <a:r>
              <a:t>✗ Low productivity — time wasted switching apps</a:t>
            </a:r>
          </a:p>
          <a:p>
            <a:pPr>
              <a:spcAft>
                <a:spcPts val="600"/>
              </a:spcAft>
              <a:defRPr sz="1400">
                <a:solidFill>
                  <a:srgbClr val="3C3C3C"/>
                </a:solidFill>
                <a:latin typeface="Calibri"/>
              </a:defRPr>
            </a:pPr>
            <a:r>
              <a:t>✗ High frustration &amp; poor satisfaction</a:t>
            </a:r>
          </a:p>
          <a:p>
            <a:pPr>
              <a:spcAft>
                <a:spcPts val="600"/>
              </a:spcAft>
              <a:defRPr sz="1400">
                <a:solidFill>
                  <a:srgbClr val="3C3C3C"/>
                </a:solidFill>
                <a:latin typeface="Calibri"/>
              </a:defRPr>
            </a:pPr>
            <a:r>
              <a:t>✗ Increased support call volume</a:t>
            </a:r>
          </a:p>
          <a:p>
            <a:pPr>
              <a:spcAft>
                <a:spcPts val="600"/>
              </a:spcAft>
              <a:defRPr sz="1400">
                <a:solidFill>
                  <a:srgbClr val="3C3C3C"/>
                </a:solidFill>
                <a:latin typeface="Calibri"/>
              </a:defRPr>
            </a:pPr>
            <a:r>
              <a:t>✗ Poor decision-making efficiency</a:t>
            </a:r>
          </a:p>
          <a:p>
            <a:pPr>
              <a:spcAft>
                <a:spcPts val="600"/>
              </a:spcAft>
              <a:defRPr sz="1400">
                <a:solidFill>
                  <a:srgbClr val="3C3C3C"/>
                </a:solidFill>
                <a:latin typeface="Calibri"/>
              </a:defRPr>
            </a:pPr>
            <a:r>
              <a:t>✗ High error rates &amp; costly rework</a:t>
            </a:r>
          </a:p>
          <a:p>
            <a:pPr>
              <a:spcAft>
                <a:spcPts val="600"/>
              </a:spcAft>
              <a:defRPr sz="1400">
                <a:solidFill>
                  <a:srgbClr val="3C3C3C"/>
                </a:solidFill>
                <a:latin typeface="Calibri"/>
              </a:defRPr>
            </a:pPr>
            <a:r>
              <a:t>✗ Long learning curves for new employees</a:t>
            </a:r>
          </a:p>
          <a:p>
            <a:pPr>
              <a:spcAft>
                <a:spcPts val="600"/>
              </a:spcAft>
              <a:defRPr sz="1400">
                <a:solidFill>
                  <a:srgbClr val="3C3C3C"/>
                </a:solidFill>
                <a:latin typeface="Calibri"/>
              </a:defRPr>
            </a:pPr>
            <a:r>
              <a:t>✗ Business objectives negatively impacted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5029200"/>
            <a:ext cx="4572000" cy="1188720"/>
          </a:xfrm>
          <a:prstGeom prst="round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97280" y="5166360"/>
            <a:ext cx="548640" cy="41148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CRM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737360" y="5166360"/>
            <a:ext cx="548640" cy="41148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ERP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377439" y="5166360"/>
            <a:ext cx="548640" cy="41148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SCM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17520" y="5166360"/>
            <a:ext cx="548640" cy="41148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BI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0" y="5166360"/>
            <a:ext cx="548640" cy="411480"/>
          </a:xfrm>
          <a:prstGeom prst="round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HR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5166360"/>
            <a:ext cx="548640" cy="41148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Mail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623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0392B"/>
                </a:solidFill>
                <a:latin typeface="Calibri"/>
              </a:defRPr>
            </a:pPr>
            <a:r>
              <a:t>User must juggle ALL of these daily → Broken Experience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65379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4/12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6400"/>
                </a:solidFill>
                <a:latin typeface="Calibri"/>
              </a:defRPr>
            </a:pPr>
            <a:r>
              <a:t>Previous Approaches — What Others Tried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05840"/>
            <a:ext cx="365760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280160"/>
            <a:ext cx="2286000" cy="365760"/>
          </a:xfrm>
          <a:prstGeom prst="rect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Approach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1280160"/>
            <a:ext cx="2560320" cy="365760"/>
          </a:xfrm>
          <a:prstGeom prst="rect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Who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280160"/>
            <a:ext cx="2834640" cy="365760"/>
          </a:xfrm>
          <a:prstGeom prst="rect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What They Did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61120" y="1280160"/>
            <a:ext cx="2743200" cy="365760"/>
          </a:xfrm>
          <a:prstGeom prst="rect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Limitation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1691640"/>
            <a:ext cx="2286000" cy="548640"/>
          </a:xfrm>
          <a:prstGeom prst="rect">
            <a:avLst/>
          </a:prstGeom>
          <a:solidFill>
            <a:srgbClr val="F5F5F5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3C3C3C"/>
                </a:solidFill>
                <a:latin typeface="Calibri"/>
              </a:defRPr>
            </a:pPr>
            <a:r>
              <a:t>Uniform Visual</a:t>
            </a:r>
            <a:br/>
            <a:r>
              <a:t>Design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1691640"/>
            <a:ext cx="2560320" cy="548640"/>
          </a:xfrm>
          <a:prstGeom prst="rect">
            <a:avLst/>
          </a:prstGeom>
          <a:solidFill>
            <a:srgbClr val="F5F5F5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3C3C3C"/>
                </a:solidFill>
                <a:latin typeface="Calibri"/>
              </a:defRPr>
            </a:pPr>
            <a:r>
              <a:t>Google, Cooper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691640"/>
            <a:ext cx="2834640" cy="548640"/>
          </a:xfrm>
          <a:prstGeom prst="rect">
            <a:avLst/>
          </a:prstGeom>
          <a:solidFill>
            <a:srgbClr val="F5F5F5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3C3C3C"/>
                </a:solidFill>
                <a:latin typeface="Calibri"/>
              </a:defRPr>
            </a:pPr>
            <a:r>
              <a:t>Consistent look &amp;</a:t>
            </a:r>
            <a:br/>
            <a:r>
              <a:t>feel across apps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1691640"/>
            <a:ext cx="2743200" cy="548640"/>
          </a:xfrm>
          <a:prstGeom prst="rect">
            <a:avLst/>
          </a:prstGeom>
          <a:solidFill>
            <a:srgbClr val="F5F5F5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3C3C3C"/>
                </a:solidFill>
                <a:latin typeface="Calibri"/>
              </a:defRPr>
            </a:pPr>
            <a:r>
              <a:t>Surface-level only —</a:t>
            </a:r>
            <a:br/>
            <a:r>
              <a:t>doesn't fix workflows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286000"/>
            <a:ext cx="22860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3C3C3C"/>
                </a:solidFill>
                <a:latin typeface="Calibri"/>
              </a:defRPr>
            </a:pPr>
            <a:r>
              <a:t>Unified Customer</a:t>
            </a:r>
            <a:br/>
            <a:r>
              <a:t>Experience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2286000"/>
            <a:ext cx="25603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3C3C3C"/>
                </a:solidFill>
                <a:latin typeface="Calibri"/>
              </a:defRPr>
            </a:pPr>
            <a:r>
              <a:t>Rogowski /</a:t>
            </a:r>
            <a:br/>
            <a:r>
              <a:t>Forrester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2286000"/>
            <a:ext cx="28346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3C3C3C"/>
                </a:solidFill>
                <a:latin typeface="Calibri"/>
              </a:defRPr>
            </a:pPr>
            <a:r>
              <a:t>Seamless cross-channel</a:t>
            </a:r>
            <a:br/>
            <a:r>
              <a:t>touchpoints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0" y="2286000"/>
            <a:ext cx="27432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3C3C3C"/>
                </a:solidFill>
                <a:latin typeface="Calibri"/>
              </a:defRPr>
            </a:pPr>
            <a:r>
              <a:t>Limited to digital</a:t>
            </a:r>
            <a:br/>
            <a:r>
              <a:t>marketing domain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2880360"/>
            <a:ext cx="2286000" cy="548640"/>
          </a:xfrm>
          <a:prstGeom prst="rect">
            <a:avLst/>
          </a:prstGeom>
          <a:solidFill>
            <a:srgbClr val="F5F5F5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3C3C3C"/>
                </a:solidFill>
                <a:latin typeface="Calibri"/>
              </a:defRPr>
            </a:pPr>
            <a:r>
              <a:t>Unified</a:t>
            </a:r>
            <a:br/>
            <a:r>
              <a:t>Architecture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0" y="2880360"/>
            <a:ext cx="2560320" cy="548640"/>
          </a:xfrm>
          <a:prstGeom prst="rect">
            <a:avLst/>
          </a:prstGeom>
          <a:solidFill>
            <a:srgbClr val="F5F5F5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3C3C3C"/>
                </a:solidFill>
                <a:latin typeface="Calibri"/>
              </a:defRPr>
            </a:pPr>
            <a:r>
              <a:t>O'Toole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0" y="2880360"/>
            <a:ext cx="2834640" cy="548640"/>
          </a:xfrm>
          <a:prstGeom prst="rect">
            <a:avLst/>
          </a:prstGeom>
          <a:solidFill>
            <a:srgbClr val="F5F5F5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3C3C3C"/>
                </a:solidFill>
                <a:latin typeface="Calibri"/>
              </a:defRPr>
            </a:pPr>
            <a:r>
              <a:t>Integrated backend</a:t>
            </a:r>
            <a:br/>
            <a:r>
              <a:t>&amp; database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61120" y="2880360"/>
            <a:ext cx="2743200" cy="548640"/>
          </a:xfrm>
          <a:prstGeom prst="rect">
            <a:avLst/>
          </a:prstGeom>
          <a:solidFill>
            <a:srgbClr val="F5F5F5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3C3C3C"/>
                </a:solidFill>
                <a:latin typeface="Calibri"/>
              </a:defRPr>
            </a:pPr>
            <a:r>
              <a:t>No front-end or</a:t>
            </a:r>
            <a:br/>
            <a:r>
              <a:t>process details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3474720"/>
            <a:ext cx="22860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3C3C3C"/>
                </a:solidFill>
                <a:latin typeface="Calibri"/>
              </a:defRPr>
            </a:pPr>
            <a:r>
              <a:t>Vendor</a:t>
            </a:r>
            <a:br/>
            <a:r>
              <a:t>Partnership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0" y="3474720"/>
            <a:ext cx="25603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3C3C3C"/>
                </a:solidFill>
                <a:latin typeface="Calibri"/>
              </a:defRPr>
            </a:pPr>
            <a:r>
              <a:t>Finstad, Xu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0" y="3474720"/>
            <a:ext cx="28346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3C3C3C"/>
                </a:solidFill>
                <a:latin typeface="Calibri"/>
              </a:defRPr>
            </a:pPr>
            <a:r>
              <a:t>Bridge vendor-user</a:t>
            </a:r>
            <a:br/>
            <a:r>
              <a:t>gap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61120" y="3474720"/>
            <a:ext cx="27432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3C3C3C"/>
                </a:solidFill>
                <a:latin typeface="Calibri"/>
              </a:defRPr>
            </a:pPr>
            <a:r>
              <a:t>Not full end-to-end</a:t>
            </a:r>
            <a:br/>
            <a:r>
              <a:t>UX coverage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4069080"/>
            <a:ext cx="2286000" cy="548640"/>
          </a:xfrm>
          <a:prstGeom prst="rect">
            <a:avLst/>
          </a:prstGeom>
          <a:solidFill>
            <a:srgbClr val="F5F5F5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3C3C3C"/>
                </a:solidFill>
                <a:latin typeface="Calibri"/>
              </a:defRPr>
            </a:pPr>
            <a:r>
              <a:t>Klocek's Hierarchy</a:t>
            </a:r>
            <a:br/>
            <a:r>
              <a:t>Model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0" y="4069080"/>
            <a:ext cx="2560320" cy="548640"/>
          </a:xfrm>
          <a:prstGeom prst="rect">
            <a:avLst/>
          </a:prstGeom>
          <a:solidFill>
            <a:srgbClr val="F5F5F5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3C3C3C"/>
                </a:solidFill>
                <a:latin typeface="Calibri"/>
              </a:defRPr>
            </a:pPr>
            <a:r>
              <a:t>Klocek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0" y="4069080"/>
            <a:ext cx="2834640" cy="548640"/>
          </a:xfrm>
          <a:prstGeom prst="rect">
            <a:avLst/>
          </a:prstGeom>
          <a:solidFill>
            <a:srgbClr val="F5F5F5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3C3C3C"/>
                </a:solidFill>
                <a:latin typeface="Calibri"/>
              </a:defRPr>
            </a:pPr>
            <a:r>
              <a:t>5-level pyramid:</a:t>
            </a:r>
            <a:br/>
            <a:r>
              <a:t>visual → org shift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961120" y="4069080"/>
            <a:ext cx="2743200" cy="548640"/>
          </a:xfrm>
          <a:prstGeom prst="rect">
            <a:avLst/>
          </a:prstGeom>
          <a:solidFill>
            <a:srgbClr val="F5F5F5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3C3C3C"/>
                </a:solidFill>
                <a:latin typeface="Calibri"/>
              </a:defRPr>
            </a:pPr>
            <a:r>
              <a:t>Too linear, visual</a:t>
            </a:r>
            <a:br/>
            <a:r>
              <a:t>overemphasized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4754880"/>
            <a:ext cx="10698480" cy="1554480"/>
          </a:xfrm>
          <a:prstGeom prst="roundRect">
            <a:avLst/>
          </a:prstGeom>
          <a:solidFill>
            <a:srgbClr val="FFF8F0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4846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7E22"/>
                </a:solidFill>
                <a:latin typeface="Calibri"/>
              </a:defRPr>
            </a:pPr>
            <a:r>
              <a:t>Key Criticism of Klocek's 5-Level Model: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5303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3C3C3C"/>
                </a:solidFill>
                <a:latin typeface="Calibri"/>
              </a:defRPr>
            </a:pPr>
            <a:r>
              <a:t>1. Overemphasizes visual design as the foundation — but pretty UI alone doesn't fix broken processes</a:t>
            </a:r>
          </a:p>
          <a:p>
            <a:pPr>
              <a:spcAft>
                <a:spcPts val="300"/>
              </a:spcAft>
              <a:defRPr sz="1200">
                <a:solidFill>
                  <a:srgbClr val="3C3C3C"/>
                </a:solidFill>
                <a:latin typeface="Calibri"/>
              </a:defRPr>
            </a:pPr>
            <a:r>
              <a:t>2. Doesn't fit hybrid vendor environments — you often CAN'T customize vendor apps</a:t>
            </a:r>
          </a:p>
          <a:p>
            <a:pPr>
              <a:spcAft>
                <a:spcPts val="300"/>
              </a:spcAft>
              <a:defRPr sz="1200">
                <a:solidFill>
                  <a:srgbClr val="3C3C3C"/>
                </a:solidFill>
                <a:latin typeface="Calibri"/>
              </a:defRPr>
            </a:pPr>
            <a:r>
              <a:t>3. Business process redesign is placed too late — should be earlier priority</a:t>
            </a:r>
          </a:p>
          <a:p>
            <a:pPr>
              <a:spcAft>
                <a:spcPts val="300"/>
              </a:spcAft>
              <a:defRPr sz="1200">
                <a:solidFill>
                  <a:srgbClr val="3C3C3C"/>
                </a:solidFill>
                <a:latin typeface="Calibri"/>
              </a:defRPr>
            </a:pPr>
            <a:r>
              <a:t>4. Too linear — real-world implementation doesn't follow a neat bottom-up or top-down sequence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65379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5/12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6400"/>
                </a:solidFill>
                <a:latin typeface="Calibri"/>
              </a:defRPr>
            </a:pPr>
            <a:r>
              <a:t>The Solution — 5 Attributes of Unified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7432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C0392B"/>
                </a:solidFill>
                <a:latin typeface="Calibri"/>
              </a:defRPr>
            </a:pPr>
            <a:r>
              <a:t>★ CORE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005840"/>
            <a:ext cx="365760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0" y="1280160"/>
            <a:ext cx="292608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892040" y="1143000"/>
            <a:ext cx="411480" cy="411480"/>
          </a:xfrm>
          <a:prstGeom prst="ellipse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13716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06400"/>
                </a:solidFill>
                <a:latin typeface="Calibri"/>
              </a:defRPr>
            </a:pPr>
            <a:r>
              <a:t>Consistency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173736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C3C3C"/>
                </a:solidFill>
                <a:latin typeface="Calibri"/>
              </a:defRPr>
            </a:pPr>
            <a:r>
              <a:t>Uniform visual &amp;</a:t>
            </a:r>
            <a:br/>
            <a:r>
              <a:t>branding design</a:t>
            </a:r>
            <a:br/>
            <a:r>
              <a:t>across applications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2560320"/>
            <a:ext cx="292608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691640" y="2423160"/>
            <a:ext cx="411480" cy="411480"/>
          </a:xfrm>
          <a:prstGeom prst="ellipse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26517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06400"/>
                </a:solidFill>
                <a:latin typeface="Calibri"/>
              </a:defRPr>
            </a:pPr>
            <a:r>
              <a:t>Efficiency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301752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C3C3C"/>
                </a:solidFill>
                <a:latin typeface="Calibri"/>
              </a:defRPr>
            </a:pPr>
            <a:r>
              <a:t>Streamlined</a:t>
            </a:r>
            <a:br/>
            <a:r>
              <a:t>business processes</a:t>
            </a:r>
            <a:br/>
            <a:r>
              <a:t>for quality &amp; savings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2560320"/>
            <a:ext cx="292608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92440" y="2423160"/>
            <a:ext cx="411480" cy="411480"/>
          </a:xfrm>
          <a:prstGeom prst="ellipse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6517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06400"/>
                </a:solidFill>
                <a:latin typeface="Calibri"/>
              </a:defRPr>
            </a:pPr>
            <a:r>
              <a:t>Personalization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01752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C3C3C"/>
                </a:solidFill>
                <a:latin typeface="Calibri"/>
              </a:defRPr>
            </a:pPr>
            <a:r>
              <a:t>Right content,</a:t>
            </a:r>
            <a:br/>
            <a:r>
              <a:t>right device,</a:t>
            </a:r>
            <a:br/>
            <a:r>
              <a:t>right context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60320" y="4572000"/>
            <a:ext cx="292608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423160" y="4434840"/>
            <a:ext cx="411480" cy="411480"/>
          </a:xfrm>
          <a:prstGeom prst="ellipse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46634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06400"/>
                </a:solidFill>
                <a:latin typeface="Calibri"/>
              </a:defRPr>
            </a:pPr>
            <a:r>
              <a:t>Integration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502920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C3C3C"/>
                </a:solidFill>
                <a:latin typeface="Calibri"/>
              </a:defRPr>
            </a:pPr>
            <a:r>
              <a:t>Data, security &amp;</a:t>
            </a:r>
            <a:br/>
            <a:r>
              <a:t>architecture</a:t>
            </a:r>
            <a:br/>
            <a:r>
              <a:t>across apps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79" y="4572000"/>
            <a:ext cx="292608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60919" y="4434840"/>
            <a:ext cx="411480" cy="411480"/>
          </a:xfrm>
          <a:prstGeom prst="ellipse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59" y="46634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06400"/>
                </a:solidFill>
                <a:latin typeface="Calibri"/>
              </a:defRPr>
            </a:pPr>
            <a:r>
              <a:t>Optimization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59" y="502920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C3C3C"/>
                </a:solidFill>
                <a:latin typeface="Calibri"/>
              </a:defRPr>
            </a:pPr>
            <a:r>
              <a:t>Seamless end-to-end</a:t>
            </a:r>
            <a:br/>
            <a:r>
              <a:t>touchpoints:</a:t>
            </a:r>
            <a:br/>
            <a:r>
              <a:t>performance, help, support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89120" y="3200400"/>
            <a:ext cx="3383280" cy="914400"/>
          </a:xfrm>
          <a:prstGeom prst="roundRect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UNIFIED</a:t>
            </a:r>
            <a:br/>
            <a:r>
              <a:t>EXPERIENCE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65379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6/12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6400"/>
                </a:solidFill>
                <a:latin typeface="Calibri"/>
              </a:defRPr>
            </a:pPr>
            <a:r>
              <a:t>Implementation Framework — 2 Driving Vectors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05840"/>
            <a:ext cx="365760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own Arrow 6"/>
          <p:cNvSpPr/>
          <p:nvPr/>
        </p:nvSpPr>
        <p:spPr>
          <a:xfrm>
            <a:off x="731520" y="1371600"/>
            <a:ext cx="914400" cy="2286000"/>
          </a:xfrm>
          <a:prstGeom prst="downArrow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TOP</a:t>
            </a:r>
            <a:br/>
            <a:r>
              <a:t>DOWN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980B9"/>
                </a:solidFill>
                <a:latin typeface="Calibri"/>
              </a:defRPr>
            </a:pPr>
            <a:r>
              <a:t>Vector 1: Organization (Top-Down)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1828800"/>
            <a:ext cx="1828800" cy="731520"/>
          </a:xfrm>
          <a:prstGeom prst="roundRect">
            <a:avLst/>
          </a:prstGeom>
          <a:solidFill>
            <a:srgbClr val="D6EAF8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980B9"/>
                </a:solidFill>
              </a:defRPr>
            </a:pPr>
            <a:r>
              <a:t>UX Culture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18288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C3C3C"/>
                </a:solidFill>
                <a:latin typeface="Calibri"/>
              </a:defRPr>
            </a:pPr>
            <a:r>
              <a:t>Experience scorecard,</a:t>
            </a:r>
            <a:br/>
            <a:r>
              <a:t>UX maturity model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2743200"/>
            <a:ext cx="1828800" cy="731520"/>
          </a:xfrm>
          <a:prstGeom prst="roundRect">
            <a:avLst/>
          </a:prstGeom>
          <a:solidFill>
            <a:srgbClr val="D6EAF8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980B9"/>
                </a:solidFill>
              </a:defRPr>
            </a:pPr>
            <a:r>
              <a:t>Organizational</a:t>
            </a:r>
            <a:br/>
            <a:r>
              <a:t>Commitment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7432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C3C3C"/>
                </a:solidFill>
                <a:latin typeface="Calibri"/>
              </a:defRPr>
            </a:pPr>
            <a:r>
              <a:t>Drive UX-based investment,</a:t>
            </a:r>
            <a:br/>
            <a:r>
              <a:t>strategic procurement</a:t>
            </a:r>
          </a:p>
        </p:txBody>
      </p:sp>
      <p:sp>
        <p:nvSpPr>
          <p:cNvPr id="13" name="Up Arrow 12"/>
          <p:cNvSpPr/>
          <p:nvPr/>
        </p:nvSpPr>
        <p:spPr>
          <a:xfrm>
            <a:off x="731520" y="3840480"/>
            <a:ext cx="914400" cy="2468880"/>
          </a:xfrm>
          <a:prstGeom prst="upArrow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BOTTOM</a:t>
            </a:r>
            <a:br/>
            <a:r>
              <a:t>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840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6400"/>
                </a:solidFill>
                <a:latin typeface="Calibri"/>
              </a:defRPr>
            </a:pPr>
            <a:r>
              <a:t>Vector 2: Design (Bottom-Up)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28800" y="4297680"/>
            <a:ext cx="1828800" cy="731520"/>
          </a:xfrm>
          <a:prstGeom prst="roundRect">
            <a:avLst/>
          </a:prstGeom>
          <a:solidFill>
            <a:srgbClr val="EAFAEA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6400"/>
                </a:solidFill>
              </a:defRPr>
            </a:pPr>
            <a:r>
              <a:t>UX Standards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40480" y="4297680"/>
            <a:ext cx="1828800" cy="731520"/>
          </a:xfrm>
          <a:prstGeom prst="roundRect">
            <a:avLst/>
          </a:prstGeom>
          <a:solidFill>
            <a:srgbClr val="EAFAEA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6400"/>
                </a:solidFill>
              </a:defRPr>
            </a:pPr>
            <a:r>
              <a:t>UI Assets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52160" y="4297680"/>
            <a:ext cx="1828800" cy="731520"/>
          </a:xfrm>
          <a:prstGeom prst="roundRect">
            <a:avLst/>
          </a:prstGeom>
          <a:solidFill>
            <a:srgbClr val="EAFAEA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6400"/>
                </a:solidFill>
              </a:defRPr>
            </a:pPr>
            <a:r>
              <a:t>Integration Framework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28800" y="5212080"/>
            <a:ext cx="1828800" cy="731520"/>
          </a:xfrm>
          <a:prstGeom prst="roundRect">
            <a:avLst/>
          </a:prstGeom>
          <a:solidFill>
            <a:srgbClr val="EAFAEA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6400"/>
                </a:solidFill>
              </a:defRPr>
            </a:pPr>
            <a:r>
              <a:t>UX Practices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40480" y="5212080"/>
            <a:ext cx="1828800" cy="731520"/>
          </a:xfrm>
          <a:prstGeom prst="roundRect">
            <a:avLst/>
          </a:prstGeom>
          <a:solidFill>
            <a:srgbClr val="EAFAEA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6400"/>
                </a:solidFill>
              </a:defRPr>
            </a:pPr>
            <a:r>
              <a:t>Vendor Strategy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52160" y="5212080"/>
            <a:ext cx="1828800" cy="731520"/>
          </a:xfrm>
          <a:prstGeom prst="roundRect">
            <a:avLst/>
          </a:prstGeom>
          <a:solidFill>
            <a:srgbClr val="EAFAEA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6400"/>
                </a:solidFill>
              </a:defRPr>
            </a:pPr>
            <a:r>
              <a:t>Governance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0" y="1371600"/>
            <a:ext cx="3931920" cy="484632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00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0" y="15544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6400"/>
                </a:solidFill>
                <a:latin typeface="Calibri"/>
              </a:defRPr>
            </a:pPr>
            <a:r>
              <a:t>Why This Framework is Better: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2011680"/>
            <a:ext cx="3474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  <a:latin typeface="Calibri"/>
              </a:defRPr>
            </a:pPr>
            <a:r>
              <a:t>✓  End-to-end systematic view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  <a:latin typeface="Calibri"/>
              </a:defRPr>
            </a:pPr>
            <a:r>
              <a:t>✓  Holistic — all user touchpoints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  <a:latin typeface="Calibri"/>
              </a:defRPr>
            </a:pPr>
            <a:r>
              <a:t>✓  Realistic — works with vendor solutions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  <a:latin typeface="Calibri"/>
              </a:defRPr>
            </a:pPr>
            <a:r>
              <a:t>✓  Adaptive — start from anywhere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  <a:latin typeface="Calibri"/>
              </a:defRPr>
            </a:pPr>
            <a:r>
              <a:t>✓  UX metric-driven — prove ROI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  <a:latin typeface="Calibri"/>
              </a:defRPr>
            </a:pPr>
            <a:r>
              <a:t>✓  Tactical — specific tools &amp; approaches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65379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7/12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6400"/>
                </a:solidFill>
                <a:latin typeface="Calibri"/>
              </a:defRPr>
            </a:pPr>
            <a:r>
              <a:t>Case Study — Meet Paul, the Frustrated Buyer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05840"/>
            <a:ext cx="365760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3657600" cy="4846320"/>
          </a:xfrm>
          <a:prstGeom prst="roundRect">
            <a:avLst/>
          </a:prstGeom>
          <a:solidFill>
            <a:srgbClr val="F0F8FF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103120" y="1463040"/>
            <a:ext cx="731520" cy="73152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/>
            </a:pPr>
            <a:r>
              <a:t>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980B9"/>
                </a:solidFill>
                <a:latin typeface="Calibri"/>
              </a:defRPr>
            </a:pPr>
            <a:r>
              <a:t>Paul — Supply Chain Buyer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43200"/>
            <a:ext cx="3291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3C3C3C"/>
                </a:solidFill>
                <a:latin typeface="Calibri"/>
              </a:defRPr>
            </a:pPr>
            <a:r>
              <a:t>▸ Works at global company</a:t>
            </a:r>
          </a:p>
          <a:p>
            <a:pPr>
              <a:spcAft>
                <a:spcPts val="500"/>
              </a:spcAft>
              <a:defRPr sz="1300">
                <a:solidFill>
                  <a:srgbClr val="3C3C3C"/>
                </a:solidFill>
                <a:latin typeface="Calibri"/>
              </a:defRPr>
            </a:pPr>
            <a:r>
              <a:t>▸ 10 years experience, 3.5 in current role</a:t>
            </a:r>
          </a:p>
          <a:p>
            <a:pPr>
              <a:spcAft>
                <a:spcPts val="500"/>
              </a:spcAft>
              <a:defRPr sz="1300">
                <a:solidFill>
                  <a:srgbClr val="3C3C3C"/>
                </a:solidFill>
                <a:latin typeface="Calibri"/>
              </a:defRPr>
            </a:pPr>
            <a:r>
              <a:t>▸ Manages factory spare parts inventory</a:t>
            </a:r>
          </a:p>
          <a:p>
            <a:pPr>
              <a:spcAft>
                <a:spcPts val="500"/>
              </a:spcAft>
              <a:defRPr sz="1300">
                <a:solidFill>
                  <a:srgbClr val="3C3C3C"/>
                </a:solidFill>
                <a:latin typeface="Calibri"/>
              </a:defRPr>
            </a:pPr>
            <a:r>
              <a:t>▸ Day driven by tactics &amp; exceptions</a:t>
            </a:r>
          </a:p>
          <a:p>
            <a:pPr>
              <a:spcAft>
                <a:spcPts val="500"/>
              </a:spcAft>
              <a:defRPr sz="1300">
                <a:solidFill>
                  <a:srgbClr val="3C3C3C"/>
                </a:solidFill>
                <a:latin typeface="Calibri"/>
              </a:defRPr>
            </a:pPr>
            <a:r>
              <a:t>▸ Constantly fighting fires</a:t>
            </a:r>
          </a:p>
          <a:p>
            <a:pPr>
              <a:spcAft>
                <a:spcPts val="500"/>
              </a:spcAft>
              <a:defRPr sz="1300">
                <a:solidFill>
                  <a:srgbClr val="3C3C3C"/>
                </a:solidFill>
                <a:latin typeface="Calibri"/>
              </a:defRPr>
            </a:pPr>
            <a:r>
              <a:t>▸ Liaison between factory &amp; supplier</a:t>
            </a:r>
          </a:p>
          <a:p>
            <a:pPr>
              <a:spcAft>
                <a:spcPts val="500"/>
              </a:spcAft>
              <a:defRPr sz="1300">
                <a:solidFill>
                  <a:srgbClr val="3C3C3C"/>
                </a:solidFill>
                <a:latin typeface="Calibri"/>
              </a:defRPr>
            </a:pPr>
            <a:r>
              <a:t>▸ Wishes: 'ONE system for all tasks'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28016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  <a:latin typeface="Calibri"/>
              </a:defRPr>
            </a:pPr>
            <a:r>
              <a:t>Paul's Daily Nightmare: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1828800"/>
            <a:ext cx="1554480" cy="64008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6+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56032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C3C3C"/>
                </a:solidFill>
                <a:latin typeface="Calibri"/>
              </a:defRPr>
            </a:pPr>
            <a:r>
              <a:t>Different</a:t>
            </a:r>
            <a:br/>
            <a:r>
              <a:t>Applications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1828800"/>
            <a:ext cx="1554480" cy="64008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56032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C3C3C"/>
                </a:solidFill>
                <a:latin typeface="Calibri"/>
              </a:defRPr>
            </a:pPr>
            <a:r>
              <a:t>Manual</a:t>
            </a:r>
            <a:br/>
            <a:r>
              <a:t>Steps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0" y="1828800"/>
            <a:ext cx="1554480" cy="64008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69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56032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C3C3C"/>
                </a:solidFill>
                <a:latin typeface="Calibri"/>
              </a:defRPr>
            </a:pPr>
            <a:r>
              <a:t>Mouse Clicks</a:t>
            </a:r>
            <a:br/>
            <a:r>
              <a:t>per Task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41280" y="1828800"/>
            <a:ext cx="1554480" cy="64008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10 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256032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C3C3C"/>
                </a:solidFill>
                <a:latin typeface="Calibri"/>
              </a:defRPr>
            </a:pPr>
            <a:r>
              <a:t>Average</a:t>
            </a:r>
            <a:br/>
            <a:r>
              <a:t>Task 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338328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Calibri"/>
              </a:defRPr>
            </a:pPr>
            <a:r>
              <a:t>Three Core Problems: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54880" y="3840480"/>
            <a:ext cx="1645920" cy="320040"/>
          </a:xfrm>
          <a:prstGeom prst="rect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Issue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0" y="3840480"/>
            <a:ext cx="2834640" cy="320040"/>
          </a:xfrm>
          <a:prstGeom prst="rect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Description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01200" y="3840480"/>
            <a:ext cx="1371600" cy="320040"/>
          </a:xfrm>
          <a:prstGeom prst="rect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Severity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54880" y="4206240"/>
            <a:ext cx="164592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3C3C3C"/>
                </a:solidFill>
              </a:defRPr>
            </a:pPr>
            <a:r>
              <a:t>Long Cycle Time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0" y="4206240"/>
            <a:ext cx="283464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3C3C3C"/>
                </a:solidFill>
              </a:defRPr>
            </a:pPr>
            <a:r>
              <a:t>Long waiting + processing time → low productivity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01200" y="4206240"/>
            <a:ext cx="137160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C0392B"/>
                </a:solidFill>
              </a:defRPr>
            </a:pPr>
            <a:r>
              <a:t>HIGH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54880" y="4709160"/>
            <a:ext cx="1645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3C3C3C"/>
                </a:solidFill>
              </a:defRPr>
            </a:pPr>
            <a:r>
              <a:t>Wrong Priorities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0" y="4709160"/>
            <a:ext cx="28346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3C3C3C"/>
                </a:solidFill>
              </a:defRPr>
            </a:pPr>
            <a:r>
              <a:t>Critical items not worked first → factory escalations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01200" y="4709160"/>
            <a:ext cx="1371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C0392B"/>
                </a:solidFill>
              </a:defRPr>
            </a:pPr>
            <a:r>
              <a:t>HIGH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54880" y="5212080"/>
            <a:ext cx="164592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3C3C3C"/>
                </a:solidFill>
              </a:defRPr>
            </a:pPr>
            <a:r>
              <a:t>Quality Issues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0" y="5212080"/>
            <a:ext cx="283464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3C3C3C"/>
                </a:solidFill>
              </a:defRPr>
            </a:pPr>
            <a:r>
              <a:t>Incorrect transactions → rework and cost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01200" y="5212080"/>
            <a:ext cx="137160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C0392B"/>
                </a:solidFill>
              </a:defRPr>
            </a:pPr>
            <a:r>
              <a:t>HIGH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0" y="57607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87878"/>
                </a:solidFill>
                <a:latin typeface="Calibri"/>
              </a:defRPr>
            </a:pPr>
            <a:r>
              <a:t>"I wish to have ONE comprehensive system for all transactions instead of dozen different systems."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65379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8/12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6400"/>
                </a:solidFill>
                <a:latin typeface="Calibri"/>
              </a:defRPr>
            </a:pPr>
            <a:r>
              <a:t>6 Design Principles — How They Fixed 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05840"/>
            <a:ext cx="365760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47472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1508760"/>
            <a:ext cx="365760" cy="365760"/>
          </a:xfrm>
          <a:prstGeom prst="ellipse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4630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400"/>
                </a:solidFill>
                <a:latin typeface="Calibri"/>
              </a:defRPr>
            </a:pPr>
            <a:r>
              <a:t>Standardize</a:t>
            </a:r>
            <a:br/>
            <a:r>
              <a:t>the Process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574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C3C3C"/>
                </a:solidFill>
                <a:latin typeface="Calibri"/>
              </a:defRPr>
            </a:pPr>
            <a:r>
              <a:t>Create a single version</a:t>
            </a:r>
            <a:br/>
            <a:r>
              <a:t>of the process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743200"/>
            <a:ext cx="1828800" cy="274320"/>
          </a:xfrm>
          <a:prstGeom prst="roundRect">
            <a:avLst/>
          </a:prstGeom>
          <a:solidFill>
            <a:srgbClr val="EAF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006400"/>
                </a:solidFill>
              </a:defRPr>
            </a:pPr>
            <a:r>
              <a:t>→ UX, Productivity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1371600"/>
            <a:ext cx="347472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17719" y="1508760"/>
            <a:ext cx="365760" cy="365760"/>
          </a:xfrm>
          <a:prstGeom prst="ellipse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39" y="14630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400"/>
                </a:solidFill>
                <a:latin typeface="Calibri"/>
              </a:defRPr>
            </a:pPr>
            <a:r>
              <a:t>Integrate</a:t>
            </a:r>
            <a:br/>
            <a:r>
              <a:t>Business Intelligence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39" y="20574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C3C3C"/>
                </a:solidFill>
                <a:latin typeface="Calibri"/>
              </a:defRPr>
            </a:pPr>
            <a:r>
              <a:t>Minimum info for</a:t>
            </a:r>
            <a:br/>
            <a:r>
              <a:t>decision on ONE screen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39" y="2743200"/>
            <a:ext cx="1828800" cy="274320"/>
          </a:xfrm>
          <a:prstGeom prst="roundRect">
            <a:avLst/>
          </a:prstGeom>
          <a:solidFill>
            <a:srgbClr val="EAF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006400"/>
                </a:solidFill>
              </a:defRPr>
            </a:pPr>
            <a:r>
              <a:t>→ Decision Making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599" y="1371600"/>
            <a:ext cx="347472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366759" y="1508760"/>
            <a:ext cx="365760" cy="365760"/>
          </a:xfrm>
          <a:prstGeom prst="ellipse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79" y="14630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400"/>
                </a:solidFill>
                <a:latin typeface="Calibri"/>
              </a:defRPr>
            </a:pPr>
            <a:r>
              <a:t>Reduce</a:t>
            </a:r>
            <a:br/>
            <a:r>
              <a:t>Siloed Systems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9" y="20574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C3C3C"/>
                </a:solidFill>
                <a:latin typeface="Calibri"/>
              </a:defRPr>
            </a:pPr>
            <a:r>
              <a:t>Integrate data from</a:t>
            </a:r>
            <a:br/>
            <a:r>
              <a:t>multiple sources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79" y="2743200"/>
            <a:ext cx="1828800" cy="274320"/>
          </a:xfrm>
          <a:prstGeom prst="roundRect">
            <a:avLst/>
          </a:prstGeom>
          <a:solidFill>
            <a:srgbClr val="EAF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006400"/>
                </a:solidFill>
              </a:defRPr>
            </a:pPr>
            <a:r>
              <a:t>→ Focus, Accuracy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474720"/>
            <a:ext cx="347472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68680" y="3611880"/>
            <a:ext cx="365760" cy="365760"/>
          </a:xfrm>
          <a:prstGeom prst="ellipse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5661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400"/>
                </a:solidFill>
                <a:latin typeface="Calibri"/>
              </a:defRPr>
            </a:pPr>
            <a:r>
              <a:t>Collaborate</a:t>
            </a:r>
            <a:br/>
            <a:r>
              <a:t>Online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1605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C3C3C"/>
                </a:solidFill>
                <a:latin typeface="Calibri"/>
              </a:defRPr>
            </a:pPr>
            <a:r>
              <a:t>Replace email with</a:t>
            </a:r>
            <a:br/>
            <a:r>
              <a:t>digital collaboration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4846320"/>
            <a:ext cx="1828800" cy="274320"/>
          </a:xfrm>
          <a:prstGeom prst="roundRect">
            <a:avLst/>
          </a:prstGeom>
          <a:solidFill>
            <a:srgbClr val="EAF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006400"/>
                </a:solidFill>
              </a:defRPr>
            </a:pPr>
            <a:r>
              <a:t>→ Speed, Automation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80559" y="3474720"/>
            <a:ext cx="347472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617719" y="3611880"/>
            <a:ext cx="365760" cy="365760"/>
          </a:xfrm>
          <a:prstGeom prst="ellipse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39" y="35661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400"/>
                </a:solidFill>
                <a:latin typeface="Calibri"/>
              </a:defRPr>
            </a:pPr>
            <a:r>
              <a:t>Eliminate</a:t>
            </a:r>
            <a:br/>
            <a:r>
              <a:t>Rework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39" y="41605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C3C3C"/>
                </a:solidFill>
                <a:latin typeface="Calibri"/>
              </a:defRPr>
            </a:pPr>
            <a:r>
              <a:t>Verify data at</a:t>
            </a:r>
            <a:br/>
            <a:r>
              <a:t>point of entry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663439" y="4846320"/>
            <a:ext cx="1828800" cy="274320"/>
          </a:xfrm>
          <a:prstGeom prst="roundRect">
            <a:avLst/>
          </a:prstGeom>
          <a:solidFill>
            <a:srgbClr val="EAF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006400"/>
                </a:solidFill>
              </a:defRPr>
            </a:pPr>
            <a:r>
              <a:t>→ Quality, Productivity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599" y="3474720"/>
            <a:ext cx="347472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366759" y="3611880"/>
            <a:ext cx="365760" cy="365760"/>
          </a:xfrm>
          <a:prstGeom prst="ellipse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79" y="35661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400"/>
                </a:solidFill>
                <a:latin typeface="Calibri"/>
              </a:defRPr>
            </a:pPr>
            <a:r>
              <a:t>Self-Service</a:t>
            </a:r>
            <a:br/>
            <a:r>
              <a:t>for Customers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79" y="41605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C3C3C"/>
                </a:solidFill>
                <a:latin typeface="Calibri"/>
              </a:defRPr>
            </a:pPr>
            <a:r>
              <a:t>Expose process state</a:t>
            </a:r>
            <a:br/>
            <a:r>
              <a:t>to stakeholders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412479" y="4846320"/>
            <a:ext cx="1828800" cy="274320"/>
          </a:xfrm>
          <a:prstGeom prst="roundRect">
            <a:avLst/>
          </a:prstGeom>
          <a:solidFill>
            <a:srgbClr val="EAF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006400"/>
                </a:solidFill>
              </a:defRPr>
            </a:pPr>
            <a:r>
              <a:t>→ Trust, Efficiency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5669280"/>
            <a:ext cx="10698480" cy="640080"/>
          </a:xfrm>
          <a:prstGeom prst="roundRect">
            <a:avLst/>
          </a:prstGeom>
          <a:solidFill>
            <a:srgbClr val="F0F8FF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57150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980B9"/>
                </a:solidFill>
                <a:latin typeface="Calibri"/>
              </a:defRPr>
            </a:pPr>
            <a:r>
              <a:t>Technology: BPMS (Business Process Management Suite) + SOA (Service Oriented Architecture) → New system: BOMA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65379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9/12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6400"/>
                </a:solidFill>
                <a:latin typeface="Calibri"/>
              </a:defRPr>
            </a:pPr>
            <a:r>
              <a:t>Results — The Numbers That Prove It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2743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C0392B"/>
                </a:solidFill>
                <a:latin typeface="Calibri"/>
              </a:defRPr>
            </a:pPr>
            <a:r>
              <a:t>📊 KEY SLIDE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005840"/>
            <a:ext cx="365760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Calibri"/>
              </a:defRPr>
            </a:pPr>
            <a:r>
              <a:t>UX Improvements (Before → After)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645920"/>
            <a:ext cx="1371600" cy="320040"/>
          </a:xfrm>
          <a:prstGeom prst="rect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Category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03120" y="1645920"/>
            <a:ext cx="2103120" cy="320040"/>
          </a:xfrm>
          <a:prstGeom prst="rect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Metric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645920"/>
            <a:ext cx="731520" cy="320040"/>
          </a:xfrm>
          <a:prstGeom prst="rect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Before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37760" y="1645920"/>
            <a:ext cx="731520" cy="320040"/>
          </a:xfrm>
          <a:prstGeom prst="rect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After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1993392"/>
            <a:ext cx="1371600" cy="320040"/>
          </a:xfrm>
          <a:prstGeom prst="rect">
            <a:avLst/>
          </a:prstGeom>
          <a:solidFill>
            <a:srgbClr val="F5F5F5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6400"/>
                </a:solidFill>
              </a:defRPr>
            </a:pPr>
            <a:r>
              <a:t>Process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03120" y="1993392"/>
            <a:ext cx="2103120" cy="320040"/>
          </a:xfrm>
          <a:prstGeom prst="rect">
            <a:avLst/>
          </a:prstGeom>
          <a:solidFill>
            <a:srgbClr val="F5F5F5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6400"/>
                </a:solidFill>
              </a:defRPr>
            </a:pPr>
            <a:r>
              <a:t>Manual Steps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1993392"/>
            <a:ext cx="731520" cy="320040"/>
          </a:xfrm>
          <a:prstGeom prst="rect">
            <a:avLst/>
          </a:prstGeom>
          <a:solidFill>
            <a:srgbClr val="F5F5F5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6400"/>
                </a:solidFill>
              </a:defRPr>
            </a:pPr>
            <a:r>
              <a:t>35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0" y="1993392"/>
            <a:ext cx="731520" cy="320040"/>
          </a:xfrm>
          <a:prstGeom prst="rect">
            <a:avLst/>
          </a:prstGeom>
          <a:solidFill>
            <a:srgbClr val="F5F5F5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6400"/>
                </a:solidFill>
              </a:defRPr>
            </a:pPr>
            <a:r>
              <a:t>12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2340864"/>
            <a:ext cx="13716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3C3C3C"/>
                </a:solidFill>
              </a:defRPr>
            </a:pPr>
          </a:p>
        </p:txBody>
      </p:sp>
      <p:sp>
        <p:nvSpPr>
          <p:cNvPr id="18" name="Rectangle 17"/>
          <p:cNvSpPr/>
          <p:nvPr/>
        </p:nvSpPr>
        <p:spPr>
          <a:xfrm>
            <a:off x="2103120" y="2340864"/>
            <a:ext cx="21031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3C3C3C"/>
                </a:solidFill>
              </a:defRPr>
            </a:pPr>
            <a:r>
              <a:t>Manual Processes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2340864"/>
            <a:ext cx="7315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3C3C3C"/>
                </a:solidFill>
              </a:defRPr>
            </a:pPr>
            <a:r>
              <a:t>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37760" y="2340864"/>
            <a:ext cx="7315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6400"/>
                </a:solidFill>
              </a:defRPr>
            </a:pPr>
            <a:r>
              <a:t>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2688336"/>
            <a:ext cx="1371600" cy="320040"/>
          </a:xfrm>
          <a:prstGeom prst="rect">
            <a:avLst/>
          </a:prstGeom>
          <a:solidFill>
            <a:srgbClr val="F5F5F5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3C3C3C"/>
                </a:solidFill>
              </a:defRPr>
            </a:pPr>
          </a:p>
        </p:txBody>
      </p:sp>
      <p:sp>
        <p:nvSpPr>
          <p:cNvPr id="22" name="Rectangle 21"/>
          <p:cNvSpPr/>
          <p:nvPr/>
        </p:nvSpPr>
        <p:spPr>
          <a:xfrm>
            <a:off x="2103120" y="2688336"/>
            <a:ext cx="2103120" cy="320040"/>
          </a:xfrm>
          <a:prstGeom prst="rect">
            <a:avLst/>
          </a:prstGeom>
          <a:solidFill>
            <a:srgbClr val="F5F5F5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3C3C3C"/>
                </a:solidFill>
              </a:defRPr>
            </a:pPr>
            <a:r>
              <a:t>Roles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6240" y="2688336"/>
            <a:ext cx="731520" cy="320040"/>
          </a:xfrm>
          <a:prstGeom prst="rect">
            <a:avLst/>
          </a:prstGeom>
          <a:solidFill>
            <a:srgbClr val="F5F5F5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3C3C3C"/>
                </a:solidFill>
              </a:defRPr>
            </a:pPr>
            <a: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37760" y="2688336"/>
            <a:ext cx="731520" cy="320040"/>
          </a:xfrm>
          <a:prstGeom prst="rect">
            <a:avLst/>
          </a:prstGeom>
          <a:solidFill>
            <a:srgbClr val="F5F5F5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6400"/>
                </a:solidFill>
              </a:defRPr>
            </a:pPr>
            <a: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3035808"/>
            <a:ext cx="13716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3C3C3C"/>
                </a:solidFill>
              </a:defRPr>
            </a:pPr>
          </a:p>
        </p:txBody>
      </p:sp>
      <p:sp>
        <p:nvSpPr>
          <p:cNvPr id="26" name="Rectangle 25"/>
          <p:cNvSpPr/>
          <p:nvPr/>
        </p:nvSpPr>
        <p:spPr>
          <a:xfrm>
            <a:off x="2103120" y="3035808"/>
            <a:ext cx="21031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3C3C3C"/>
                </a:solidFill>
              </a:defRPr>
            </a:pPr>
            <a:r>
              <a:t>Rework Rate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6240" y="3035808"/>
            <a:ext cx="7315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3C3C3C"/>
                </a:solidFill>
              </a:defRPr>
            </a:pPr>
            <a:r>
              <a:t>20%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37760" y="3035808"/>
            <a:ext cx="7315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6400"/>
                </a:solidFill>
              </a:defRPr>
            </a:pPr>
            <a:r>
              <a:t>&lt;5%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3383280"/>
            <a:ext cx="1371600" cy="320040"/>
          </a:xfrm>
          <a:prstGeom prst="rect">
            <a:avLst/>
          </a:prstGeom>
          <a:solidFill>
            <a:srgbClr val="F5F5F5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6400"/>
                </a:solidFill>
              </a:defRPr>
            </a:pPr>
            <a:r>
              <a:t>Integration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03120" y="3383280"/>
            <a:ext cx="2103120" cy="320040"/>
          </a:xfrm>
          <a:prstGeom prst="rect">
            <a:avLst/>
          </a:prstGeom>
          <a:solidFill>
            <a:srgbClr val="F5F5F5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6400"/>
                </a:solidFill>
              </a:defRPr>
            </a:pPr>
            <a:r>
              <a:t>Applications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6240" y="3383280"/>
            <a:ext cx="731520" cy="320040"/>
          </a:xfrm>
          <a:prstGeom prst="rect">
            <a:avLst/>
          </a:prstGeom>
          <a:solidFill>
            <a:srgbClr val="F5F5F5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6400"/>
                </a:solidFill>
              </a:defRPr>
            </a:pPr>
            <a:r>
              <a:t>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937760" y="3383280"/>
            <a:ext cx="731520" cy="320040"/>
          </a:xfrm>
          <a:prstGeom prst="rect">
            <a:avLst/>
          </a:prstGeom>
          <a:solidFill>
            <a:srgbClr val="F5F5F5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6400"/>
                </a:solidFill>
              </a:defRPr>
            </a:pPr>
            <a:r>
              <a:t>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3730752"/>
            <a:ext cx="13716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3C3C3C"/>
                </a:solidFill>
              </a:defRPr>
            </a:pPr>
          </a:p>
        </p:txBody>
      </p:sp>
      <p:sp>
        <p:nvSpPr>
          <p:cNvPr id="34" name="Rectangle 33"/>
          <p:cNvSpPr/>
          <p:nvPr/>
        </p:nvSpPr>
        <p:spPr>
          <a:xfrm>
            <a:off x="2103120" y="3730752"/>
            <a:ext cx="21031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3C3C3C"/>
                </a:solidFill>
              </a:defRPr>
            </a:pPr>
            <a:r>
              <a:t>Screens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06240" y="3730752"/>
            <a:ext cx="7315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3C3C3C"/>
                </a:solidFill>
              </a:defRPr>
            </a:pPr>
            <a:r>
              <a:t>15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937760" y="3730752"/>
            <a:ext cx="7315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6400"/>
                </a:solidFill>
              </a:defRPr>
            </a:pPr>
            <a:r>
              <a:t>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4078224"/>
            <a:ext cx="1371600" cy="320040"/>
          </a:xfrm>
          <a:prstGeom prst="rect">
            <a:avLst/>
          </a:prstGeom>
          <a:solidFill>
            <a:srgbClr val="F5F5F5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3C3C3C"/>
                </a:solidFill>
              </a:defRPr>
            </a:pPr>
          </a:p>
        </p:txBody>
      </p:sp>
      <p:sp>
        <p:nvSpPr>
          <p:cNvPr id="38" name="Rectangle 37"/>
          <p:cNvSpPr/>
          <p:nvPr/>
        </p:nvSpPr>
        <p:spPr>
          <a:xfrm>
            <a:off x="2103120" y="4078224"/>
            <a:ext cx="2103120" cy="320040"/>
          </a:xfrm>
          <a:prstGeom prst="rect">
            <a:avLst/>
          </a:prstGeom>
          <a:solidFill>
            <a:srgbClr val="F5F5F5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3C3C3C"/>
                </a:solidFill>
              </a:defRPr>
            </a:pPr>
            <a:r>
              <a:t>Automated Steps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06240" y="4078224"/>
            <a:ext cx="731520" cy="320040"/>
          </a:xfrm>
          <a:prstGeom prst="rect">
            <a:avLst/>
          </a:prstGeom>
          <a:solidFill>
            <a:srgbClr val="F5F5F5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3C3C3C"/>
                </a:solidFill>
              </a:defRPr>
            </a:pPr>
            <a:r>
              <a:t>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937760" y="4078224"/>
            <a:ext cx="731520" cy="320040"/>
          </a:xfrm>
          <a:prstGeom prst="rect">
            <a:avLst/>
          </a:prstGeom>
          <a:solidFill>
            <a:srgbClr val="F5F5F5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6400"/>
                </a:solidFill>
              </a:defRPr>
            </a:pPr>
            <a:r>
              <a:t>23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" y="4425696"/>
            <a:ext cx="13716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6400"/>
                </a:solidFill>
              </a:defRPr>
            </a:pPr>
            <a:r>
              <a:t>Optimization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103120" y="4425696"/>
            <a:ext cx="21031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6400"/>
                </a:solidFill>
              </a:defRPr>
            </a:pPr>
            <a:r>
              <a:t>Manual Emails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06240" y="4425696"/>
            <a:ext cx="7315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6400"/>
                </a:solidFill>
              </a:defRPr>
            </a:pPr>
            <a:r>
              <a:t>Dozens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4425696"/>
            <a:ext cx="7315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6400"/>
                </a:solidFill>
              </a:defRPr>
            </a:pPr>
            <a:r>
              <a:t>None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4773168"/>
            <a:ext cx="1371600" cy="320040"/>
          </a:xfrm>
          <a:prstGeom prst="rect">
            <a:avLst/>
          </a:prstGeom>
          <a:solidFill>
            <a:srgbClr val="F5F5F5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3C3C3C"/>
                </a:solidFill>
              </a:defRPr>
            </a:pPr>
          </a:p>
        </p:txBody>
      </p:sp>
      <p:sp>
        <p:nvSpPr>
          <p:cNvPr id="46" name="Rectangle 45"/>
          <p:cNvSpPr/>
          <p:nvPr/>
        </p:nvSpPr>
        <p:spPr>
          <a:xfrm>
            <a:off x="2103120" y="4773168"/>
            <a:ext cx="2103120" cy="320040"/>
          </a:xfrm>
          <a:prstGeom prst="rect">
            <a:avLst/>
          </a:prstGeom>
          <a:solidFill>
            <a:srgbClr val="F5F5F5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3C3C3C"/>
                </a:solidFill>
              </a:defRPr>
            </a:pPr>
            <a:r>
              <a:t>Online Help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06240" y="4773168"/>
            <a:ext cx="731520" cy="320040"/>
          </a:xfrm>
          <a:prstGeom prst="rect">
            <a:avLst/>
          </a:prstGeom>
          <a:solidFill>
            <a:srgbClr val="F5F5F5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3C3C3C"/>
                </a:solidFill>
              </a:defRPr>
            </a:pPr>
            <a:r>
              <a:t>Partial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937760" y="4773168"/>
            <a:ext cx="731520" cy="320040"/>
          </a:xfrm>
          <a:prstGeom prst="rect">
            <a:avLst/>
          </a:prstGeom>
          <a:solidFill>
            <a:srgbClr val="F5F5F5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6400"/>
                </a:solidFill>
              </a:defRPr>
            </a:pPr>
            <a:r>
              <a:t>Full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Calibri"/>
              </a:defRPr>
            </a:pPr>
            <a:r>
              <a:t>Business Value (3 Months After)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1645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C3C3C"/>
                </a:solidFill>
                <a:latin typeface="Calibri"/>
              </a:defRPr>
            </a:pPr>
            <a:r>
              <a:t>Task Time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321040" y="1645920"/>
            <a:ext cx="914400" cy="365760"/>
          </a:xfrm>
          <a:prstGeom prst="round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C0392B"/>
                </a:solidFill>
              </a:defRPr>
            </a:pPr>
            <a:r>
              <a:t>10 min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81160" y="16459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640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601200" y="1645920"/>
            <a:ext cx="914400" cy="365760"/>
          </a:xfrm>
          <a:prstGeom prst="roundRect">
            <a:avLst/>
          </a:prstGeom>
          <a:solidFill>
            <a:srgbClr val="EAF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6400"/>
                </a:solidFill>
              </a:defRPr>
            </a:pPr>
            <a:r>
              <a:t>5 min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607040" y="16459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7AE60"/>
                </a:solidFill>
                <a:latin typeface="Calibri"/>
              </a:defRPr>
            </a:pPr>
            <a:r>
              <a:t>50% faster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0" y="22128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C3C3C"/>
                </a:solidFill>
                <a:latin typeface="Calibri"/>
              </a:defRPr>
            </a:pPr>
            <a:r>
              <a:t>Clicks/Transaction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321040" y="2212848"/>
            <a:ext cx="914400" cy="365760"/>
          </a:xfrm>
          <a:prstGeom prst="round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C0392B"/>
                </a:solidFill>
              </a:defRPr>
            </a:pPr>
            <a:r>
              <a:t>69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281160" y="221284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640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601200" y="2212848"/>
            <a:ext cx="914400" cy="365760"/>
          </a:xfrm>
          <a:prstGeom prst="roundRect">
            <a:avLst/>
          </a:prstGeom>
          <a:solidFill>
            <a:srgbClr val="EAF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6400"/>
                </a:solidFill>
              </a:defRPr>
            </a:pPr>
            <a:r>
              <a:t>17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607040" y="2212848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7AE60"/>
                </a:solidFill>
                <a:latin typeface="Calibri"/>
              </a:defRPr>
            </a:pPr>
            <a:r>
              <a:t>75% fewer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00800" y="277977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C3C3C"/>
                </a:solidFill>
                <a:latin typeface="Calibri"/>
              </a:defRPr>
            </a:pPr>
            <a:r>
              <a:t>Late Orders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321040" y="2779776"/>
            <a:ext cx="914400" cy="365760"/>
          </a:xfrm>
          <a:prstGeom prst="round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C0392B"/>
                </a:solidFill>
              </a:defRPr>
            </a:pPr>
            <a:r>
              <a:t>40%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281160" y="2779776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640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601200" y="2779776"/>
            <a:ext cx="914400" cy="365760"/>
          </a:xfrm>
          <a:prstGeom prst="roundRect">
            <a:avLst/>
          </a:prstGeom>
          <a:solidFill>
            <a:srgbClr val="EAF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6400"/>
                </a:solidFill>
              </a:defRPr>
            </a:pPr>
            <a:r>
              <a:t>20%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607040" y="2779776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7AE60"/>
                </a:solidFill>
                <a:latin typeface="Calibri"/>
              </a:defRPr>
            </a:pPr>
            <a:r>
              <a:t>50% reduction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00800" y="334670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C3C3C"/>
                </a:solidFill>
                <a:latin typeface="Calibri"/>
              </a:defRPr>
            </a:pPr>
            <a:r>
              <a:t>Cost Savings/Buyer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321040" y="3346704"/>
            <a:ext cx="914400" cy="365760"/>
          </a:xfrm>
          <a:prstGeom prst="round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C0392B"/>
                </a:solidFill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281160" y="3346704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640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601200" y="3346704"/>
            <a:ext cx="914400" cy="365760"/>
          </a:xfrm>
          <a:prstGeom prst="roundRect">
            <a:avLst/>
          </a:prstGeom>
          <a:solidFill>
            <a:srgbClr val="EAF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6400"/>
                </a:solidFill>
              </a:defRPr>
            </a:pPr>
            <a:r>
              <a:t>$1.2M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607040" y="3346704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7AE60"/>
                </a:solidFill>
                <a:latin typeface="Calibri"/>
              </a:defRPr>
            </a:pPr>
            <a:r>
              <a:t>💰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00800" y="39136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C3C3C"/>
                </a:solidFill>
                <a:latin typeface="Calibri"/>
              </a:defRPr>
            </a:pPr>
            <a:r>
              <a:t>Training Time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321040" y="3913632"/>
            <a:ext cx="914400" cy="365760"/>
          </a:xfrm>
          <a:prstGeom prst="round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C0392B"/>
                </a:solidFill>
              </a:defRPr>
            </a:pPr>
            <a:r>
              <a:t>Dozens hrs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281160" y="391363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640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601200" y="3913632"/>
            <a:ext cx="914400" cy="365760"/>
          </a:xfrm>
          <a:prstGeom prst="roundRect">
            <a:avLst/>
          </a:prstGeom>
          <a:solidFill>
            <a:srgbClr val="EAF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6400"/>
                </a:solidFill>
              </a:defRPr>
            </a:pPr>
            <a:r>
              <a:t>2 hours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607040" y="391363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7AE60"/>
                </a:solidFill>
                <a:latin typeface="Calibri"/>
              </a:defRPr>
            </a:pPr>
            <a:r>
              <a:t>95% less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400800" y="4480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C3C3C"/>
                </a:solidFill>
                <a:latin typeface="Calibri"/>
              </a:defRPr>
            </a:pPr>
            <a:r>
              <a:t>'How do I' Tickets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321040" y="4480560"/>
            <a:ext cx="914400" cy="365760"/>
          </a:xfrm>
          <a:prstGeom prst="round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C0392B"/>
                </a:solidFill>
              </a:defRPr>
            </a:pPr>
            <a:r>
              <a:t>Dozens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281160" y="44805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640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9601200" y="4480560"/>
            <a:ext cx="914400" cy="365760"/>
          </a:xfrm>
          <a:prstGeom prst="roundRect">
            <a:avLst/>
          </a:prstGeom>
          <a:solidFill>
            <a:srgbClr val="EAF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6400"/>
                </a:solidFill>
              </a:defRPr>
            </a:pPr>
            <a:r>
              <a:t>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607040" y="44805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7AE60"/>
                </a:solidFill>
                <a:latin typeface="Calibri"/>
              </a:defRPr>
            </a:pPr>
            <a:r>
              <a:t>100% gone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00800" y="50474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C3C3C"/>
                </a:solidFill>
                <a:latin typeface="Calibri"/>
              </a:defRPr>
            </a:pPr>
            <a:r>
              <a:t>System Trust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8321040" y="5047488"/>
            <a:ext cx="914400" cy="365760"/>
          </a:xfrm>
          <a:prstGeom prst="round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C0392B"/>
                </a:solidFill>
              </a:defRPr>
            </a:pPr>
            <a:r>
              <a:t>&lt;10%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281160" y="504748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640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9601200" y="5047488"/>
            <a:ext cx="914400" cy="365760"/>
          </a:xfrm>
          <a:prstGeom prst="roundRect">
            <a:avLst/>
          </a:prstGeom>
          <a:solidFill>
            <a:srgbClr val="EAF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6400"/>
                </a:solidFill>
              </a:defRPr>
            </a:pPr>
            <a:r>
              <a:t>83%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607040" y="5047488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7AE60"/>
                </a:solidFill>
                <a:latin typeface="Calibri"/>
              </a:defRPr>
            </a:pPr>
            <a:r>
              <a:t>8x increase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0" y="561441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C3C3C"/>
                </a:solidFill>
                <a:latin typeface="Calibri"/>
              </a:defRPr>
            </a:pPr>
            <a:r>
              <a:t>User Feeling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8321040" y="5614416"/>
            <a:ext cx="914400" cy="365760"/>
          </a:xfrm>
          <a:prstGeom prst="round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C0392B"/>
                </a:solidFill>
              </a:defRPr>
            </a:pPr>
            <a:r>
              <a:t>Frustrated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281160" y="5614416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640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9601200" y="5614416"/>
            <a:ext cx="914400" cy="365760"/>
          </a:xfrm>
          <a:prstGeom prst="roundRect">
            <a:avLst/>
          </a:prstGeom>
          <a:solidFill>
            <a:srgbClr val="EAF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6400"/>
                </a:solidFill>
              </a:defRPr>
            </a:pPr>
            <a:r>
              <a:t>Enthusiastic!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5614416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7AE60"/>
                </a:solidFill>
                <a:latin typeface="Calibri"/>
              </a:defRPr>
            </a:pPr>
            <a:r>
              <a:t>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65379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10/12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6400"/>
                </a:solidFill>
                <a:latin typeface="Calibri"/>
              </a:defRPr>
            </a:pPr>
            <a:r>
              <a:t>Key Takeaways &amp; Lessons Learned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05840"/>
            <a:ext cx="365760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30352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" y="1554480"/>
            <a:ext cx="411480" cy="411480"/>
          </a:xfrm>
          <a:prstGeom prst="ellipse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3258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6400"/>
                </a:solidFill>
                <a:latin typeface="Calibri"/>
              </a:defRPr>
            </a:pPr>
            <a:r>
              <a:t>UX ≠ UI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645920"/>
            <a:ext cx="4389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C3C3C"/>
                </a:solidFill>
                <a:latin typeface="Calibri"/>
              </a:defRPr>
            </a:pPr>
            <a:r>
              <a:t>UX is NOT just about the user interface — it's about the</a:t>
            </a:r>
            <a:br/>
            <a:r>
              <a:t>entire end-to-end experience across all touchpoints.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1280160"/>
            <a:ext cx="530352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83680" y="1554480"/>
            <a:ext cx="411480" cy="411480"/>
          </a:xfrm>
          <a:prstGeom prst="ellipse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13258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6400"/>
                </a:solidFill>
                <a:latin typeface="Calibri"/>
              </a:defRPr>
            </a:pPr>
            <a:r>
              <a:t>Process First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1645920"/>
            <a:ext cx="4389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C3C3C"/>
                </a:solidFill>
                <a:latin typeface="Calibri"/>
              </a:defRPr>
            </a:pPr>
            <a:r>
              <a:t>Business process redesign is crucial — a prettier UI</a:t>
            </a:r>
            <a:br/>
            <a:r>
              <a:t>alone won't fix broken workflows.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514600"/>
            <a:ext cx="530352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2960" y="2788920"/>
            <a:ext cx="411480" cy="411480"/>
          </a:xfrm>
          <a:prstGeom prst="ellipse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25603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6400"/>
                </a:solidFill>
                <a:latin typeface="Calibri"/>
              </a:defRPr>
            </a:pPr>
            <a:r>
              <a:t>Integrate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2880360"/>
            <a:ext cx="4389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C3C3C"/>
                </a:solidFill>
                <a:latin typeface="Calibri"/>
              </a:defRPr>
            </a:pPr>
            <a:r>
              <a:t>Integration across apps eliminates the pain of</a:t>
            </a:r>
            <a:br/>
            <a:r>
              <a:t>context-switching between multiple systems.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92240" y="2514600"/>
            <a:ext cx="530352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83680" y="2788920"/>
            <a:ext cx="411480" cy="411480"/>
          </a:xfrm>
          <a:prstGeom prst="ellipse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25603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6400"/>
                </a:solidFill>
                <a:latin typeface="Calibri"/>
              </a:defRPr>
            </a:pPr>
            <a:r>
              <a:t>Measure 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2880360"/>
            <a:ext cx="4389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C3C3C"/>
                </a:solidFill>
                <a:latin typeface="Calibri"/>
              </a:defRPr>
            </a:pPr>
            <a:r>
              <a:t>Use a metric-driven approach — measure productivity,</a:t>
            </a:r>
            <a:br/>
            <a:r>
              <a:t>cost savings, user satisfaction to prove ROI.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3749040"/>
            <a:ext cx="530352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2960" y="4023360"/>
            <a:ext cx="411480" cy="411480"/>
          </a:xfrm>
          <a:prstGeom prst="ellipse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379476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6400"/>
                </a:solidFill>
                <a:latin typeface="Calibri"/>
              </a:defRPr>
            </a:pPr>
            <a:r>
              <a:t>Start Anywhere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4114800"/>
            <a:ext cx="4389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C3C3C"/>
                </a:solidFill>
                <a:latin typeface="Calibri"/>
              </a:defRPr>
            </a:pPr>
            <a:r>
              <a:t>Use a phased implementation — start where you can</a:t>
            </a:r>
            <a:br/>
            <a:r>
              <a:t>based on maturity, then expand systematically.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92240" y="3749040"/>
            <a:ext cx="530352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583680" y="4023360"/>
            <a:ext cx="411480" cy="411480"/>
          </a:xfrm>
          <a:prstGeom prst="ellipse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379476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6400"/>
                </a:solidFill>
                <a:latin typeface="Calibri"/>
              </a:defRPr>
            </a:pPr>
            <a:r>
              <a:t>Partner Up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4114800"/>
            <a:ext cx="4389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C3C3C"/>
                </a:solidFill>
                <a:latin typeface="Calibri"/>
              </a:defRPr>
            </a:pPr>
            <a:r>
              <a:t>UX professionals must closely partner with both</a:t>
            </a:r>
            <a:br/>
            <a:r>
              <a:t>business teams and technical teams.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00400" y="4983480"/>
            <a:ext cx="530352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291840" y="5257800"/>
            <a:ext cx="411480" cy="411480"/>
          </a:xfrm>
          <a:prstGeom prst="ellipse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94760" y="50292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6400"/>
                </a:solidFill>
                <a:latin typeface="Calibri"/>
              </a:defRPr>
            </a:pPr>
            <a:r>
              <a:t>Fewer Vendors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94760" y="5349240"/>
            <a:ext cx="4389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C3C3C"/>
                </a:solidFill>
                <a:latin typeface="Calibri"/>
              </a:defRPr>
            </a:pPr>
            <a:r>
              <a:t>Long-term: fewer vendor platforms = better unified</a:t>
            </a:r>
            <a:br/>
            <a:r>
              <a:t>experience across the organization.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65379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11/12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6400"/>
                </a:solidFill>
                <a:latin typeface="Calibri"/>
              </a:defRPr>
            </a:pPr>
            <a:r>
              <a:t>Exam-Ready Quick Reference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274320"/>
            <a:ext cx="2103120" cy="45720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📝 MEMORIZE THIS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914400"/>
            <a:ext cx="365760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188720"/>
            <a:ext cx="5303520" cy="1371600"/>
          </a:xfrm>
          <a:prstGeom prst="roundRect">
            <a:avLst/>
          </a:prstGeom>
          <a:solidFill>
            <a:srgbClr val="EAFAEA"/>
          </a:solidFill>
          <a:ln w="25400">
            <a:solidFill>
              <a:srgbClr val="00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2801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400"/>
                </a:solidFill>
                <a:latin typeface="Calibri"/>
              </a:defRPr>
            </a:pPr>
            <a:r>
              <a:t>Definition — Unified Experience =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55448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C3C3C"/>
                </a:solidFill>
                <a:latin typeface="Calibri"/>
              </a:defRPr>
            </a:pPr>
            <a:r>
              <a:t>Consistency + Efficiency + Personalization + Integration + Optimization</a:t>
            </a:r>
            <a:br/>
            <a:br/>
            <a:r>
              <a:t>A comprehensive approach to delivering end-to-end experience across multiple applications in a business context.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188720"/>
            <a:ext cx="5303520" cy="1371600"/>
          </a:xfrm>
          <a:prstGeom prst="roundRect">
            <a:avLst/>
          </a:prstGeom>
          <a:solidFill>
            <a:srgbClr val="D6EAF8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2801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980B9"/>
                </a:solidFill>
                <a:latin typeface="Calibri"/>
              </a:defRPr>
            </a:pPr>
            <a:r>
              <a:t>Implementation Framework — 2 Vectors: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55448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C3C3C"/>
                </a:solidFill>
                <a:latin typeface="Calibri"/>
              </a:defRPr>
            </a:pPr>
            <a:r>
              <a:t>1. Organization (Top-Down):</a:t>
            </a:r>
            <a:br/>
            <a:r>
              <a:t>   → UX Culture + Organizational Commitment</a:t>
            </a:r>
            <a:br/>
            <a:r>
              <a:t>2. Design (Bottom-Up):</a:t>
            </a:r>
            <a:br/>
            <a:r>
              <a:t>   → UX Standards, UI Assets, Integration Framework,</a:t>
            </a:r>
            <a:br/>
            <a:r>
              <a:t>      UX Practices, Vendor Strategy, Governance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743200"/>
            <a:ext cx="5303520" cy="1828800"/>
          </a:xfrm>
          <a:prstGeom prst="roundRect">
            <a:avLst/>
          </a:prstGeom>
          <a:solidFill>
            <a:srgbClr val="FFF8F0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83464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7E22"/>
                </a:solidFill>
                <a:latin typeface="Calibri"/>
              </a:defRPr>
            </a:pPr>
            <a:r>
              <a:t>Klocek's 5-Level Pyramid (Previous Model):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10896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C3C3C"/>
                </a:solidFill>
                <a:latin typeface="Calibri"/>
              </a:defRPr>
            </a:pPr>
            <a:r>
              <a:t>Level 1: Consistent Visual Design</a:t>
            </a:r>
            <a:br/>
            <a:r>
              <a:t>Level 2: Consistent Interaction Behavior</a:t>
            </a:r>
            <a:br/>
            <a:r>
              <a:t>Level 3: Rework Products for User Needs</a:t>
            </a:r>
            <a:br/>
            <a:r>
              <a:t>Level 4: Design Unified Experience</a:t>
            </a:r>
            <a:br/>
            <a:r>
              <a:t>Level 5: Transform Organization</a:t>
            </a:r>
            <a:br/>
            <a:br/>
            <a:r>
              <a:t>Weakness: Too linear, overemphasizes visual design, doesn't work well with vendor solutions.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2743200"/>
            <a:ext cx="5303520" cy="1828800"/>
          </a:xfrm>
          <a:prstGeom prst="roundRect">
            <a:avLst/>
          </a:prstGeom>
          <a:solidFill>
            <a:srgbClr val="FFEBEB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283464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0392B"/>
                </a:solidFill>
                <a:latin typeface="Calibri"/>
              </a:defRPr>
            </a:pPr>
            <a:r>
              <a:t>Case Study Key Numbers (REMEMBER!):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10896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C3C3C"/>
                </a:solidFill>
                <a:latin typeface="Calibri"/>
              </a:defRPr>
            </a:pPr>
            <a:r>
              <a:t>• Manual Steps: 35 → 12</a:t>
            </a:r>
            <a:br/>
            <a:r>
              <a:t>• Applications: 6 → 1</a:t>
            </a:r>
            <a:br/>
            <a:r>
              <a:t>• Clicks per Transaction: 69 → 17</a:t>
            </a:r>
            <a:br/>
            <a:r>
              <a:t>• Task Time: 10 min → 5 min</a:t>
            </a:r>
            <a:br/>
            <a:r>
              <a:t>• Cost Savings per Buyer: $0 → $1.2 Million</a:t>
            </a:r>
            <a:br/>
            <a:r>
              <a:t>• Training Time: Dozens of hours → 2 hours</a:t>
            </a:r>
            <a:br/>
            <a:r>
              <a:t>• System Trust: &lt;10% → 83%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754880"/>
            <a:ext cx="5303520" cy="155448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00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8463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400"/>
                </a:solidFill>
                <a:latin typeface="Calibri"/>
              </a:defRPr>
            </a:pPr>
            <a:r>
              <a:t>6 Design Principles: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12064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C3C3C"/>
                </a:solidFill>
                <a:latin typeface="Calibri"/>
              </a:defRPr>
            </a:pPr>
            <a:r>
              <a:t>1. Standardize the process</a:t>
            </a:r>
            <a:br/>
            <a:r>
              <a:t>2. Integrate Business Intelligence</a:t>
            </a:r>
            <a:br/>
            <a:r>
              <a:t>3. Reduce siloed systems</a:t>
            </a:r>
            <a:br/>
            <a:r>
              <a:t>4. Collaborate online</a:t>
            </a:r>
            <a:br/>
            <a:r>
              <a:t>5. Eliminate rework</a:t>
            </a:r>
            <a:br/>
            <a:r>
              <a:t>6. Allow self-service for customers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4754880"/>
            <a:ext cx="5303520" cy="1554480"/>
          </a:xfrm>
          <a:prstGeom prst="roundRect">
            <a:avLst/>
          </a:prstGeom>
          <a:solidFill>
            <a:srgbClr val="F0EAF8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48463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B59B6"/>
                </a:solidFill>
                <a:latin typeface="Calibri"/>
              </a:defRPr>
            </a:pPr>
            <a:r>
              <a:t>Key Definitions &amp; Tech: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512064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C3C3C"/>
                </a:solidFill>
                <a:latin typeface="Calibri"/>
              </a:defRPr>
            </a:pPr>
            <a:r>
              <a:t>Norman &amp; Nielsen: "UX encompasses ALL aspects of the end-user's interaction with the company, its services, and its products."</a:t>
            </a:r>
            <a:br/>
            <a:br/>
            <a:r>
              <a:t>Tech Stack: BPMS (Business Process Management Suite) + SOA (Service Oriented Architecture)</a:t>
            </a:r>
            <a:br/>
            <a:br/>
            <a:r>
              <a:t>New System: BOMA (Bill of Materials Application)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0"/>
          </a:xfrm>
          <a:prstGeom prst="rect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Calibri"/>
              </a:defRPr>
            </a:pPr>
            <a: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0EE90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8E6C8"/>
                </a:solidFill>
                <a:latin typeface="Calibri"/>
              </a:defRPr>
            </a:pPr>
            <a:r>
              <a:t>Designing for a Unified Experience: A New Perspective and a Case Study — Xu &amp; Furie, Intel Corporation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6576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6400"/>
                </a:solidFill>
                <a:latin typeface="Calibri"/>
              </a:defRPr>
            </a:pPr>
            <a:r>
              <a:t>Presented by: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42062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3C3C3C"/>
                </a:solidFill>
                <a:latin typeface="Calibri"/>
              </a:defRPr>
            </a:pPr>
            <a:r>
              <a:t>[Student Name 1] — Roll: [XXXXXXX]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45720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3C3C3C"/>
                </a:solidFill>
                <a:latin typeface="Calibri"/>
              </a:defRPr>
            </a:pPr>
            <a:r>
              <a:t>[Student Name 2] — Roll: [XXXXXXX]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49377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3C3C3C"/>
                </a:solidFill>
                <a:latin typeface="Calibri"/>
              </a:defRPr>
            </a:pPr>
            <a:r>
              <a:t>[Student Name 3] — Roll: [XXXXXXX]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53035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3C3C3C"/>
                </a:solidFill>
                <a:latin typeface="Calibri"/>
              </a:defRPr>
            </a:pPr>
            <a:r>
              <a:t>[Student Name 4] — Roll: [XXXXXXX]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2636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CSE [Course No.] — [Course Name]  |  [Teacher Name]  |  KUET  |  February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