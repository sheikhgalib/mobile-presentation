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Merriweather Light"/>
      <p:regular r:id="rId23"/>
      <p:bold r:id="rId24"/>
      <p:italic r:id="rId25"/>
      <p:boldItalic r:id="rId26"/>
    </p:embeddedFont>
    <p:embeddedFont>
      <p:font typeface="Merriweather Black"/>
      <p:bold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E14C74-4D96-4CA4-9386-17A916E20966}">
  <a:tblStyle styleId="{BEE14C74-4D96-4CA4-9386-17A916E209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MerriweatherLight-bold.fntdata"/><Relationship Id="rId23" Type="http://schemas.openxmlformats.org/officeDocument/2006/relationships/font" Target="fonts/Merriweather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Light-boldItalic.fntdata"/><Relationship Id="rId25" Type="http://schemas.openxmlformats.org/officeDocument/2006/relationships/font" Target="fonts/MerriweatherLight-italic.fntdata"/><Relationship Id="rId28" Type="http://schemas.openxmlformats.org/officeDocument/2006/relationships/font" Target="fonts/MerriweatherBlack-boldItalic.fntdata"/><Relationship Id="rId27" Type="http://schemas.openxmlformats.org/officeDocument/2006/relationships/font" Target="fonts/MerriweatherBlac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5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1" Type="http://schemas.openxmlformats.org/officeDocument/2006/relationships/image" Target="../media/image17.png"/><Relationship Id="rId10" Type="http://schemas.openxmlformats.org/officeDocument/2006/relationships/image" Target="../media/image13.png"/><Relationship Id="rId12" Type="http://schemas.openxmlformats.org/officeDocument/2006/relationships/image" Target="../media/image20.png"/><Relationship Id="rId9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85775" y="1287065"/>
            <a:ext cx="8381047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111827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Designing for a </a:t>
            </a:r>
            <a:r>
              <a:rPr b="0" i="0" lang="en-US" sz="4050" u="none" cap="none" strike="noStrike">
                <a:solidFill>
                  <a:srgbClr val="16A34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Unified Experience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85775" y="2685157"/>
            <a:ext cx="83810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111827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 New Perspective and a Case Study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8725" y="2053976"/>
            <a:ext cx="2381250" cy="270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19150" y="3409057"/>
            <a:ext cx="7648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Course No: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[Insert Course No]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19150" y="3791842"/>
            <a:ext cx="7648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Course Teacher: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[Insert Teacher Name]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19150" y="4174628"/>
            <a:ext cx="7648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Topic: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Unified Experience in Enterprise Software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19150" y="4700289"/>
            <a:ext cx="76485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Presented by: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[Student Name 1] (Roll: X)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[Student Name 2] (Roll: Y)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485775" y="2472928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76275" y="2663428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Introduction: The Problem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191250" y="2472928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85775" y="2472928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381750" y="2663428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Why Current Solutions Fail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485775" y="3410098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191250" y="2472928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76275" y="3600598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Definition: Unified Experience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191250" y="3410098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85775" y="3410098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381750" y="3600598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Implementation Framework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485775" y="4347269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191250" y="3410098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" y="4537769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Case Study: The Buyer "Paul"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191250" y="4347269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85775" y="4347269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381750" y="4537769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Transformation Results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485775" y="5284440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191250" y="4347269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76275" y="5474940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Conclusion &amp; Takeaways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191250" y="5284440"/>
            <a:ext cx="5514975" cy="746670"/>
          </a:xfrm>
          <a:prstGeom prst="roundRect">
            <a:avLst>
              <a:gd fmla="val 1020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85775" y="5284440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381750" y="5474940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A3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 counter(toc-counter) . 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Q&amp;A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6191250" y="5284440"/>
            <a:ext cx="47625" cy="74667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Flow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81025" y="960387"/>
            <a:ext cx="5190648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The Enterprise Software Crisis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2198637"/>
            <a:ext cx="4943475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66775" y="2747069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Hybrid Environment: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A messy mix of vendor solutions (SaaS), home-grown apps, and legacy systems.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6775" y="3804344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Siloed Solutions: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Applications don't talk to each other. Data is trapped in individual systems.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66775" y="4556819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Impact on UX: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Broken user journeys. Employees struggle to learn different interfaces and workflows.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66775" y="5309294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Consequence: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Reduced productivity and failure to meet business objectives.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6611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2339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57586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328344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94694"/>
            <a:ext cx="53721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485775" y="2642294"/>
            <a:ext cx="56407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The "Lipstick on a Pig" Approach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85775" y="3175694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Most companies try to fix UX by just making everything </a:t>
            </a: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look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the same (Visual Consistency).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85775" y="3975794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The Flaw: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19862" y="3366194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Klocek's Hierarchy Gap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3899594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"Visual consistency can only achieve surface effects."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638925" y="4394894"/>
            <a:ext cx="4762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4604444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Reality Check: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If the workflow is broken, a pretty interface won't fix it. We need a deeper strategy.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71525" y="4471094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It ignores underlying </a:t>
            </a: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business processes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71525" y="4918769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It doesn't address </a:t>
            </a: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data integration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71525" y="5366444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It's often impossible with 3rd party vendor software (can't customize their UI).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Why "Visual Consistency" Isn't Enough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49014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93781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385494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923" y="3632150"/>
            <a:ext cx="2091630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8054" y="3632150"/>
            <a:ext cx="2091630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0184" y="3632150"/>
            <a:ext cx="2091630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2315" y="3632150"/>
            <a:ext cx="2091630" cy="230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4445" y="3632150"/>
            <a:ext cx="2091630" cy="230668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643659" y="4556075"/>
            <a:ext cx="17761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Consistency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85948" y="4946600"/>
            <a:ext cx="16915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Uniform visual branding where possible.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2925789" y="4556075"/>
            <a:ext cx="17761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Efficiency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2968079" y="4946600"/>
            <a:ext cx="16915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Streamlined business processes &amp; workflows.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207920" y="4556075"/>
            <a:ext cx="17761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Personalization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250209" y="4946600"/>
            <a:ext cx="16915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Targeted content based on user context/device.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490050" y="4556075"/>
            <a:ext cx="17761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Integration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532340" y="4946600"/>
            <a:ext cx="169158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Seamless data &amp; security across apps.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772181" y="4556075"/>
            <a:ext cx="177615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814470" y="4946600"/>
            <a:ext cx="169158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End-to-end touchpoints (Support, Help, Speed).</a:t>
            </a:r>
            <a:endParaRPr/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1239" y="3917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47182" y="39179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57875" y="39179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40005" y="39179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45948" y="39179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Solution: Unified Experience (UE)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4090987" y="2322462"/>
            <a:ext cx="4010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UE goes beyond UI to include 5 key attributes: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591175"/>
            <a:ext cx="112204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485775" y="2732782"/>
            <a:ext cx="56407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Top-Down Approach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85775" y="3266182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(Organization Driven)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334125" y="2661344"/>
            <a:ext cx="56407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Bottom-Up Approach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334125" y="3194744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(Design Driven)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771525" y="3761482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UX Culture: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Creating an organizational mindset that values experience.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771525" y="451395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Commitment: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Executives prioritizing UX investment.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619875" y="3690044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UI Assets: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Shared libraries and style sheets.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19875" y="4137719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Standards: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Clear guidelines for vendors.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619875" y="4585394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Integration Framework: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APIs and toolkits.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Implement UE?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78053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53300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70909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15676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604444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456408"/>
            <a:ext cx="5372100" cy="359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25" y="2475458"/>
            <a:ext cx="5334000" cy="355312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6334125" y="2642294"/>
            <a:ext cx="56407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Meet Paul (Persona)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334125" y="3175694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Paul manages factory spare parts. His job is chaos.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19875" y="4023419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The Pain: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Fighting fires, reactive work.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619875" y="4471094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The Tools: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Jumps between </a:t>
            </a: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6 different applications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619875" y="4918769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The Process: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Copies/Pastes data manually. 35 manual steps!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619875" y="5671244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The Result: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High stress, errors, and late orders.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Case Study: The Frustrated Buyer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4246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49014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3781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5690294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643461"/>
            <a:ext cx="3613100" cy="2093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9375" y="3643461"/>
            <a:ext cx="3613100" cy="2093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975" y="3643461"/>
            <a:ext cx="3613100" cy="209341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485775" y="2957661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We applied the UE framework with specific design principles: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05473" y="4567386"/>
            <a:ext cx="33737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Standardize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85800" y="4957911"/>
            <a:ext cx="32130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Create a single version of the process where possible.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4409074" y="4567386"/>
            <a:ext cx="33737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Integrate BI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4489400" y="4957911"/>
            <a:ext cx="32130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Bring intelligence to the decision point (One Screen).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212674" y="4567386"/>
            <a:ext cx="33737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293000" y="4957911"/>
            <a:ext cx="32130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Use BPMS (Business Process Management Suite) to reduce manual work.</a:t>
            </a:r>
            <a:endParaRPr/>
          </a:p>
        </p:txBody>
      </p:sp>
      <p:pic>
        <p:nvPicPr>
          <p:cNvPr descr="image.png" id="244" name="Google Shape;2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1750" y="392921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1538" y="3929211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1326" y="3929211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The Transformation Strategy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" name="Google Shape;254;p21"/>
          <p:cNvGraphicFramePr/>
          <p:nvPr/>
        </p:nvGraphicFramePr>
        <p:xfrm>
          <a:off x="485775" y="2618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{BEE14C74-4D96-4CA4-9386-17A916E20966}</a:tableStyleId>
              </a:tblPr>
              <a:tblGrid>
                <a:gridCol w="3524700"/>
                <a:gridCol w="3602975"/>
                <a:gridCol w="4092775"/>
              </a:tblGrid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Before (Broken UX)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After (Unified UX)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Manual Steps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35 Steps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 Steps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Applications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 Apps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App</a:t>
                      </a: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(Consolidated)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Screens Navigated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 Screens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 Screens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Task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 Minutes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 Minutes</a:t>
                      </a: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(50% faster!)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(Stockout)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&lt; 0.66%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Savings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$1.2 Million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21"/>
          <p:cNvSpPr/>
          <p:nvPr/>
        </p:nvSpPr>
        <p:spPr>
          <a:xfrm>
            <a:off x="485775" y="30899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010471" y="30899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7613451" y="30899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85775" y="35852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010471" y="35852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613451" y="35852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85775" y="40805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010471" y="40805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7613451" y="40805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85775" y="45758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010471" y="45758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7613451" y="45758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85775" y="50711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010471" y="50711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7613451" y="50711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85775" y="55664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010471" y="55664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7613451" y="55664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85775" y="6061769"/>
            <a:ext cx="35246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010471" y="6061769"/>
            <a:ext cx="36029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7613451" y="6061769"/>
            <a:ext cx="40927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The Results: A Unified Success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866775" y="2785169"/>
            <a:ext cx="10839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cap="none" strike="noStrike">
                <a:solidFill>
                  <a:srgbClr val="111827"/>
                </a:solidFill>
                <a:latin typeface="Merriweather"/>
                <a:ea typeface="Merriweather"/>
                <a:cs typeface="Merriweather"/>
                <a:sym typeface="Merriweather"/>
              </a:rPr>
              <a:t> "The ultimate goal of unified experience is to deliver business value... UX professionals must lead the initiative by partnering with business and technical teams." 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485775" y="2785169"/>
            <a:ext cx="76200" cy="12858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85775" y="4261544"/>
            <a:ext cx="1122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— Xu &amp; Furie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485775" y="5223569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Key Takeaway: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Stop painting the UI. Start fixing the process, the integration, and the workflow.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091880"/>
            <a:ext cx="1122045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242887" y="1870769"/>
            <a:ext cx="117062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6A34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Fin!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242887" y="3215580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485775" y="4491930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Thank you for listening.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/>
          <p:nvPr/>
        </p:nvSpPr>
        <p:spPr>
          <a:xfrm>
            <a:off x="485775" y="2489150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485775" y="3273921"/>
            <a:ext cx="112204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485775" y="4256782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485775" y="326439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485775" y="326439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485775" y="424725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485775" y="424725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485775" y="503202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485775" y="503202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6385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1581150" y="2632025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https://www.kuet.ac.bd/storage/webfile/logo.png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1581150" y="2877740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www.kuet.ac.bd</a:t>
            </a:r>
            <a:endParaRPr/>
          </a:p>
        </p:txBody>
      </p:sp>
      <p:pic>
        <p:nvPicPr>
          <p:cNvPr descr="image.png" id="315" name="Google Shape;31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5224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 txBox="1"/>
          <p:nvPr/>
        </p:nvSpPr>
        <p:spPr>
          <a:xfrm>
            <a:off x="1581150" y="3416796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https://www.dataideology.com/wp-content/uploads/2024/01/DALL%C2%B7E-2024-01-30-19.03.43-An-abstract-image-depicting-data-silos-in-mid-market-businesses-without-any-text.-The-scene-shows-different-departments-represented-as-isolated-islan.png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1581150" y="3860601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www.dataideology.com</a:t>
            </a:r>
            <a:endParaRPr/>
          </a:p>
        </p:txBody>
      </p:sp>
      <p:pic>
        <p:nvPicPr>
          <p:cNvPr descr="image.png" id="318" name="Google Shape;3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44062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1581150" y="4399657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https://img.freepik.com/premium-photo/two-upset-frustrated-businessmen-coworkers-looking-computer-screen-office_368093-15890.jpg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1581150" y="4645372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  <p:pic>
        <p:nvPicPr>
          <p:cNvPr descr="image.png" id="321" name="Google Shape;3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52900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1581150" y="5184427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071/522/102/non_2x/abstract-3d-rendering-of-a-green-upward-arrow-and-bar-graph-symbolizing-growth-progress-and-success-on-a-green-background-ideal-for-illustrating-concepts-of-financial-success-business-growth-or-sustai-photo.jpg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1581150" y="5628233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485775" y="865137"/>
            <a:ext cx="11706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485775" y="1531887"/>
            <a:ext cx="11220450" cy="2857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